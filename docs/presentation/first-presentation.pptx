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we are SD Squad and this is AlgoLearn. AlgoLearn is an app that teaches algorithms step by step. Today we show the idea, how our team is organised, how we work with GitHub and Trello, and the full Figma design with a clickable prototype. The working Java software comes in our second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students find algorithms hard because books only give text and code. In AlgoLearn the student follows four steps: read a short lesson, watch the algorithm run as an animation, take a 5-question quiz, and with 60% or more the next level unlocks. So learning is small steps with a clear goal.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content has three levels with three lessons each, so nine lessons in total. Easy covers linear search, Big-O, bubble sort and selection sort. Intermediate covers binary search, insertion sort and merge sort. Hard covers quick sort, graph search with BFS and DFS, and Dijkstra's shortest path. Each level ends with a 5-question milestone quiz, and you need 60 percent, so 3 out of 5, to unlock the next level.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four members and each person has one clear job in Phase 1. Toumani designed the app in Figma: all screens, the design system and the prototype. Solaiman wrote the learning material, the nine lessons. Youssef wrote the fifteen quiz questions with the right answers and explanations. And I, Feryel, made this presentation. Everyone works in the same GitHub repository and has their own Trello cards.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real GitHub repository. It is private and all four of us are contributors, as you see on the right of the page. We never push straight to main: each task gets its own branch, then a pull request, a teammate reviews and approves it, and then it is merged. For example, Solaiman's learning material and Youssef's quiz questions both came in through pull requests.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real Trello board with three lists. To Do holds the tasks we planned but have not started, like the Phase 2 Java work. Doing shows what each of us is working on right now, and Done keeps the finished tasks, like setting up the GitHub repository. Each member creates and moves their own cards.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main part: the design. Everything was designed in Figma before writing any code. There are 16 screens, a design system with colours, text styles and components, and a clickable prototype.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drawing screens, Toumani built a small design system. It has the colours: one bordeaux brand colour on a dark background, and one colour per level. It has the text styles with one font, Inter. And it has reusable components: buttons, badges and answer options, each with different states. Because every screen uses the same pieces, the app looks consistent, and changing one component updates all screens.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path of a student. On Home you pick a level. The level page shows its three lessons. In a lesson you read the explanation and can press Watch it run to see the animation. Then you take the quiz, get feedback after each answer, and the results page tells you if the next level is unlocked. If you score below 60 percent, you can retake the quiz.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first two screens. Home shows the three levels as cards, with a colour for each level, the lessons inside, and a progress bar. Hard is locked until you pass Intermediate. The level page lists the three lessons with their status, and on the right the milestone quiz card shows the questions, the pass mark and your best score.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lesson page, here bubble sort. On the left is the explanation with numbered steps, on the right the Java code and the complexity. The bordeaux box opens the visualizer, shown small on the right. It animates the array as bars: yellow means comparing, pink means swapping and green means sorted.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level ends with the milestone quiz. The student picks an answer and presses Check answer. The feedback screen shows the correct answer in green, the wrong one in red, and explains why. At the end, the results page shows the score and which questions were wrong, and if the score is 60 percent or more, the next level is unlocked.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is not only pictures, it is a clickable prototype. Every button goes to the correct screen. Let us show the demo path: from Home we start the Intermediate level, go through the lessons, start the quiz, check an answer and see the results. The button on this slide opens the prototype in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Phase 2 we build the real app in Java with JavaFX for the interface, Maven to build it and JUnit for tests. Toumani builds the app structure, navigation, the home screen and the visual style. Solaiman builds the Easy level and the quiz engine. Youssef builds the Intermediate level and progress saving. And I build the Hard level with the graph algorithms and the sorting visualizer.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We are happy to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jpg"/><Relationship Id="rId3" Type="http://schemas.openxmlformats.org/officeDocument/2006/relationships/image" Target="../media/image9.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6.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hyperlink" Target="https://www.figma.com/proto/iZJJfAQTRYyBPHsRrOvDmR/AlgoLearn?node-id=9-2&amp;starting-point-node-id=9%3A2"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0E10"/>
        </a:solidFill>
        <a:effectLst/>
      </p:bgPr>
    </p:bg>
    <p:spTree>
      <p:nvGrpSpPr>
        <p:cNvPr id="1" name=""/>
        <p:cNvGrpSpPr/>
        <p:nvPr/>
      </p:nvGrpSpPr>
      <p:grpSpPr/>
      <p:sp>
        <p:nvSpPr>
          <p:cNvPr id="2" name="Title 1"/>
          <p:cNvSpPr>
            <a:spLocks noGrp="1"/>
          </p:cNvSpPr>
          <p:nvPr>
            <p:ph type="title"/>
          </p:nvPr>
        </p:nvSpPr>
        <p:spPr>
          <a:xfrm>
            <a:off x="548640" y="1691640"/>
            <a:ext cx="5120640" cy="1005840"/>
          </a:xfrm>
        </p:spPr>
        <p:txBody>
          <a:bodyPr wrap="square" lIns="0" rIns="0" tIns="0" bIns="0" anchor="t">
            <a:noAutofit/>
          </a:bodyPr>
          <a:lstStyle/>
          <a:p>
            <a:pPr algn="l"/>
            <a:r>
              <a:rPr sz="5400" b="1">
                <a:solidFill>
                  <a:srgbClr val="F5EDF0"/>
                </a:solidFill>
                <a:latin typeface="Segoe UI"/>
              </a:rPr>
              <a:t>AlgoLearn</a:t>
            </a:r>
          </a:p>
        </p:txBody>
      </p:sp>
      <p:sp>
        <p:nvSpPr>
          <p:cNvPr id="3" name="Rounded Rectangle 2"/>
          <p:cNvSpPr/>
          <p:nvPr/>
        </p:nvSpPr>
        <p:spPr>
          <a:xfrm>
            <a:off x="548640" y="822960"/>
            <a:ext cx="566928" cy="566928"/>
          </a:xfrm>
          <a:prstGeom prst="roundRect">
            <a:avLst>
              <a:gd name="adj" fmla="val 25806"/>
            </a:avLst>
          </a:prstGeom>
          <a:solidFill>
            <a:srgbClr val="C2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822960"/>
            <a:ext cx="566928" cy="566928"/>
          </a:xfrm>
          <a:prstGeom prst="rect">
            <a:avLst/>
          </a:prstGeom>
          <a:noFill/>
        </p:spPr>
        <p:txBody>
          <a:bodyPr wrap="square" lIns="0" rIns="0" tIns="0" bIns="0" anchor="ctr">
            <a:noAutofit/>
          </a:bodyPr>
          <a:lstStyle/>
          <a:p>
            <a:pPr algn="ctr"/>
            <a:r>
              <a:rPr sz="2400" b="1">
                <a:solidFill>
                  <a:srgbClr val="FFFFFF"/>
                </a:solidFill>
                <a:latin typeface="Segoe UI"/>
              </a:rPr>
              <a:t>A</a:t>
            </a:r>
          </a:p>
        </p:txBody>
      </p:sp>
      <p:sp>
        <p:nvSpPr>
          <p:cNvPr id="5" name="TextBox 4"/>
          <p:cNvSpPr txBox="1"/>
          <p:nvPr/>
        </p:nvSpPr>
        <p:spPr>
          <a:xfrm>
            <a:off x="548640" y="2697480"/>
            <a:ext cx="4937760" cy="914400"/>
          </a:xfrm>
          <a:prstGeom prst="rect">
            <a:avLst/>
          </a:prstGeom>
          <a:noFill/>
        </p:spPr>
        <p:txBody>
          <a:bodyPr wrap="square" lIns="0" rIns="0" tIns="0" bIns="0" anchor="t">
            <a:noAutofit/>
          </a:bodyPr>
          <a:lstStyle/>
          <a:p>
            <a:pPr algn="l"/>
            <a:r>
              <a:rPr sz="1800" b="0">
                <a:solidFill>
                  <a:srgbClr val="C7B9BF"/>
                </a:solidFill>
                <a:latin typeface="Segoe UI"/>
              </a:rPr>
              <a:t>Short lessons, live animations and a quiz that unlocks the next level.</a:t>
            </a:r>
          </a:p>
        </p:txBody>
      </p:sp>
      <p:sp>
        <p:nvSpPr>
          <p:cNvPr id="6" name="Rounded Rectangle 5"/>
          <p:cNvSpPr/>
          <p:nvPr/>
        </p:nvSpPr>
        <p:spPr>
          <a:xfrm>
            <a:off x="548640" y="3931920"/>
            <a:ext cx="3345041" cy="329184"/>
          </a:xfrm>
          <a:prstGeom prst="roundRect">
            <a:avLst>
              <a:gd name="adj" fmla="val 50000"/>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3931920"/>
            <a:ext cx="3345041" cy="329184"/>
          </a:xfrm>
          <a:prstGeom prst="rect">
            <a:avLst/>
          </a:prstGeom>
          <a:noFill/>
        </p:spPr>
        <p:txBody>
          <a:bodyPr wrap="square" lIns="0" rIns="0" tIns="0" bIns="0" anchor="ctr">
            <a:noAutofit/>
          </a:bodyPr>
          <a:lstStyle/>
          <a:p>
            <a:pPr algn="ctr"/>
            <a:r>
              <a:rPr sz="1200" b="1">
                <a:solidFill>
                  <a:srgbClr val="F48AAA"/>
                </a:solidFill>
                <a:latin typeface="Segoe UI"/>
              </a:rPr>
              <a:t>First presentation  ·  Design &amp; team</a:t>
            </a:r>
          </a:p>
        </p:txBody>
      </p:sp>
      <p:sp>
        <p:nvSpPr>
          <p:cNvPr id="8" name="TextBox 7"/>
          <p:cNvSpPr txBox="1"/>
          <p:nvPr/>
        </p:nvSpPr>
        <p:spPr>
          <a:xfrm>
            <a:off x="548640" y="4892040"/>
            <a:ext cx="5029200" cy="822960"/>
          </a:xfrm>
          <a:prstGeom prst="rect">
            <a:avLst/>
          </a:prstGeom>
          <a:noFill/>
        </p:spPr>
        <p:txBody>
          <a:bodyPr wrap="square" lIns="0" rIns="0" tIns="0" bIns="0" anchor="t">
            <a:noAutofit/>
          </a:bodyPr>
          <a:lstStyle/>
          <a:p>
            <a:pPr algn="l">
              <a:spcAft>
                <a:spcPts val="400"/>
              </a:spcAft>
            </a:pPr>
            <a:r>
              <a:rPr sz="1300" b="1">
                <a:solidFill>
                  <a:srgbClr val="F5EDF0"/>
                </a:solidFill>
                <a:latin typeface="Segoe UI"/>
              </a:rPr>
              <a:t>SD Squad</a:t>
            </a:r>
          </a:p>
          <a:p>
            <a:pPr algn="l"/>
            <a:r>
              <a:rPr sz="1300" b="0">
                <a:solidFill>
                  <a:srgbClr val="A3959B"/>
                </a:solidFill>
                <a:latin typeface="Segoe UI"/>
              </a:rPr>
              <a:t>Toumani Adib  ·  Alhamad Solaiman  ·  Youssef Jelassi  ·  Feryel</a:t>
            </a:r>
          </a:p>
        </p:txBody>
      </p:sp>
      <p:sp>
        <p:nvSpPr>
          <p:cNvPr id="9" name="Rounded Rectangle 8"/>
          <p:cNvSpPr/>
          <p:nvPr/>
        </p:nvSpPr>
        <p:spPr>
          <a:xfrm>
            <a:off x="5934456" y="1362456"/>
            <a:ext cx="5733288" cy="3624453"/>
          </a:xfrm>
          <a:prstGeom prst="roundRect">
            <a:avLst>
              <a:gd name="adj" fmla="val 3027"/>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01-home.png"/>
          <p:cNvPicPr>
            <a:picLocks noChangeAspect="1"/>
          </p:cNvPicPr>
          <p:nvPr/>
        </p:nvPicPr>
        <p:blipFill>
          <a:blip r:embed="rId2"/>
          <a:srcRect/>
          <a:stretch>
            <a:fillRect/>
          </a:stretch>
        </p:blipFill>
        <p:spPr>
          <a:xfrm>
            <a:off x="5989320" y="1417320"/>
            <a:ext cx="5623560" cy="351472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0E10"/>
        </a:solidFill>
        <a:effectLst/>
      </p:bgPr>
    </p:bg>
    <p:spTree>
      <p:nvGrpSpPr>
        <p:cNvPr id="1" name=""/>
        <p:cNvGrpSpPr/>
        <p:nvPr/>
      </p:nvGrpSpPr>
      <p:grpSpPr/>
      <p:sp>
        <p:nvSpPr>
          <p:cNvPr id="2" name="Title 1"/>
          <p:cNvSpPr>
            <a:spLocks noGrp="1"/>
          </p:cNvSpPr>
          <p:nvPr>
            <p:ph type="title"/>
          </p:nvPr>
        </p:nvSpPr>
        <p:spPr>
          <a:xfrm>
            <a:off x="548640" y="841248"/>
            <a:ext cx="11094415" cy="685800"/>
          </a:xfrm>
        </p:spPr>
        <p:txBody>
          <a:bodyPr wrap="square" lIns="0" rIns="0" tIns="0" bIns="0" anchor="t">
            <a:noAutofit/>
          </a:bodyPr>
          <a:lstStyle/>
          <a:p>
            <a:pPr algn="l"/>
            <a:r>
              <a:rPr sz="3000" b="1">
                <a:solidFill>
                  <a:srgbClr val="F5EDF0"/>
                </a:solidFill>
                <a:latin typeface="Segoe UI"/>
              </a:rPr>
              <a:t>Algorithms are hard to learn from text alone</a:t>
            </a:r>
          </a:p>
        </p:txBody>
      </p:sp>
      <p:sp>
        <p:nvSpPr>
          <p:cNvPr id="3" name="Rounded Rectangle 2"/>
          <p:cNvSpPr/>
          <p:nvPr/>
        </p:nvSpPr>
        <p:spPr>
          <a:xfrm>
            <a:off x="548640" y="457200"/>
            <a:ext cx="914400" cy="292608"/>
          </a:xfrm>
          <a:prstGeom prst="roundRect">
            <a:avLst>
              <a:gd name="adj" fmla="val 50000"/>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457200"/>
            <a:ext cx="914400" cy="292608"/>
          </a:xfrm>
          <a:prstGeom prst="rect">
            <a:avLst/>
          </a:prstGeom>
          <a:noFill/>
        </p:spPr>
        <p:txBody>
          <a:bodyPr wrap="square" lIns="0" rIns="0" tIns="0" bIns="0" anchor="ctr">
            <a:noAutofit/>
          </a:bodyPr>
          <a:lstStyle/>
          <a:p>
            <a:pPr algn="ctr"/>
            <a:r>
              <a:rPr sz="1100" b="1">
                <a:solidFill>
                  <a:srgbClr val="F48AAA"/>
                </a:solidFill>
                <a:latin typeface="Segoe UI"/>
              </a:rPr>
              <a:t>The idea</a:t>
            </a:r>
          </a:p>
        </p:txBody>
      </p:sp>
      <p:sp>
        <p:nvSpPr>
          <p:cNvPr id="5" name="TextBox 4"/>
          <p:cNvSpPr txBox="1"/>
          <p:nvPr/>
        </p:nvSpPr>
        <p:spPr>
          <a:xfrm>
            <a:off x="548640" y="1645920"/>
            <a:ext cx="10607040" cy="731520"/>
          </a:xfrm>
          <a:prstGeom prst="rect">
            <a:avLst/>
          </a:prstGeom>
          <a:noFill/>
        </p:spPr>
        <p:txBody>
          <a:bodyPr wrap="square" lIns="0" rIns="0" tIns="0" bIns="0" anchor="t">
            <a:noAutofit/>
          </a:bodyPr>
          <a:lstStyle/>
          <a:p>
            <a:pPr algn="l"/>
            <a:r>
              <a:rPr sz="1600" b="0">
                <a:solidFill>
                  <a:srgbClr val="C7B9BF"/>
                </a:solidFill>
                <a:latin typeface="Segoe UI"/>
              </a:rPr>
              <a:t>AlgoLearn is a desktop app where students learn classic algorithms one level at a time. Every lesson explains the idea in plain words, shows real Java code, and lets you watch the algorithm run.</a:t>
            </a:r>
          </a:p>
        </p:txBody>
      </p:sp>
      <p:sp>
        <p:nvSpPr>
          <p:cNvPr id="6" name="Rounded Rectangle 5"/>
          <p:cNvSpPr/>
          <p:nvPr/>
        </p:nvSpPr>
        <p:spPr>
          <a:xfrm>
            <a:off x="548640" y="2788920"/>
            <a:ext cx="2514600" cy="2286000"/>
          </a:xfrm>
          <a:prstGeom prst="roundRect">
            <a:avLst>
              <a:gd name="adj" fmla="val 5600"/>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22959" y="3081527"/>
            <a:ext cx="512064" cy="512064"/>
          </a:xfrm>
          <a:prstGeom prst="ellipse">
            <a:avLst/>
          </a:prstGeom>
          <a:solidFill>
            <a:srgbClr val="C2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22959" y="3081527"/>
            <a:ext cx="512064" cy="512064"/>
          </a:xfrm>
          <a:prstGeom prst="rect">
            <a:avLst/>
          </a:prstGeom>
          <a:noFill/>
        </p:spPr>
        <p:txBody>
          <a:bodyPr wrap="square" lIns="0" rIns="0" tIns="0" bIns="0" anchor="ctr">
            <a:noAutofit/>
          </a:bodyPr>
          <a:lstStyle/>
          <a:p>
            <a:pPr algn="ctr"/>
            <a:r>
              <a:rPr sz="1800" b="1">
                <a:solidFill>
                  <a:srgbClr val="FFFFFF"/>
                </a:solidFill>
                <a:latin typeface="Segoe UI"/>
              </a:rPr>
              <a:t>1</a:t>
            </a:r>
          </a:p>
        </p:txBody>
      </p:sp>
      <p:sp>
        <p:nvSpPr>
          <p:cNvPr id="9" name="TextBox 8"/>
          <p:cNvSpPr txBox="1"/>
          <p:nvPr/>
        </p:nvSpPr>
        <p:spPr>
          <a:xfrm>
            <a:off x="822959" y="3776472"/>
            <a:ext cx="1965960" cy="411480"/>
          </a:xfrm>
          <a:prstGeom prst="rect">
            <a:avLst/>
          </a:prstGeom>
          <a:noFill/>
        </p:spPr>
        <p:txBody>
          <a:bodyPr wrap="square" lIns="0" rIns="0" tIns="0" bIns="0" anchor="t">
            <a:noAutofit/>
          </a:bodyPr>
          <a:lstStyle/>
          <a:p>
            <a:pPr algn="l"/>
            <a:r>
              <a:rPr sz="1700" b="1">
                <a:solidFill>
                  <a:srgbClr val="F5EDF0"/>
                </a:solidFill>
                <a:latin typeface="Segoe UI"/>
              </a:rPr>
              <a:t>Read the lesson</a:t>
            </a:r>
          </a:p>
        </p:txBody>
      </p:sp>
      <p:sp>
        <p:nvSpPr>
          <p:cNvPr id="10" name="TextBox 9"/>
          <p:cNvSpPr txBox="1"/>
          <p:nvPr/>
        </p:nvSpPr>
        <p:spPr>
          <a:xfrm>
            <a:off x="822959" y="4206240"/>
            <a:ext cx="1965960" cy="1005840"/>
          </a:xfrm>
          <a:prstGeom prst="rect">
            <a:avLst/>
          </a:prstGeom>
          <a:noFill/>
        </p:spPr>
        <p:txBody>
          <a:bodyPr wrap="square" lIns="0" rIns="0" tIns="0" bIns="0" anchor="t">
            <a:noAutofit/>
          </a:bodyPr>
          <a:lstStyle/>
          <a:p>
            <a:pPr algn="l"/>
            <a:r>
              <a:rPr sz="1300" b="0">
                <a:solidFill>
                  <a:srgbClr val="A3959B"/>
                </a:solidFill>
                <a:latin typeface="Segoe UI"/>
              </a:rPr>
              <a:t>A short explanation, the steps, Java code and the time complexity.</a:t>
            </a:r>
          </a:p>
        </p:txBody>
      </p:sp>
      <p:sp>
        <p:nvSpPr>
          <p:cNvPr id="11" name="TextBox 10"/>
          <p:cNvSpPr txBox="1"/>
          <p:nvPr/>
        </p:nvSpPr>
        <p:spPr>
          <a:xfrm>
            <a:off x="3063240" y="3703320"/>
            <a:ext cx="338328" cy="548640"/>
          </a:xfrm>
          <a:prstGeom prst="rect">
            <a:avLst/>
          </a:prstGeom>
          <a:noFill/>
        </p:spPr>
        <p:txBody>
          <a:bodyPr wrap="square" lIns="0" rIns="0" tIns="0" bIns="0" anchor="ctr">
            <a:noAutofit/>
          </a:bodyPr>
          <a:lstStyle/>
          <a:p>
            <a:pPr algn="ctr"/>
            <a:r>
              <a:rPr sz="2600" b="1">
                <a:solidFill>
                  <a:srgbClr val="5A2C3C"/>
                </a:solidFill>
                <a:latin typeface="Segoe UI"/>
              </a:rPr>
              <a:t>›</a:t>
            </a:r>
          </a:p>
        </p:txBody>
      </p:sp>
      <p:sp>
        <p:nvSpPr>
          <p:cNvPr id="12" name="Rounded Rectangle 11"/>
          <p:cNvSpPr/>
          <p:nvPr/>
        </p:nvSpPr>
        <p:spPr>
          <a:xfrm>
            <a:off x="3401568" y="2788920"/>
            <a:ext cx="2514600" cy="2286000"/>
          </a:xfrm>
          <a:prstGeom prst="roundRect">
            <a:avLst>
              <a:gd name="adj" fmla="val 5600"/>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675888" y="3081527"/>
            <a:ext cx="512064" cy="512064"/>
          </a:xfrm>
          <a:prstGeom prst="ellipse">
            <a:avLst/>
          </a:prstGeom>
          <a:solidFill>
            <a:srgbClr val="C2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675888" y="3081527"/>
            <a:ext cx="512064" cy="512064"/>
          </a:xfrm>
          <a:prstGeom prst="rect">
            <a:avLst/>
          </a:prstGeom>
          <a:noFill/>
        </p:spPr>
        <p:txBody>
          <a:bodyPr wrap="square" lIns="0" rIns="0" tIns="0" bIns="0" anchor="ctr">
            <a:noAutofit/>
          </a:bodyPr>
          <a:lstStyle/>
          <a:p>
            <a:pPr algn="ctr"/>
            <a:r>
              <a:rPr sz="1800" b="1">
                <a:solidFill>
                  <a:srgbClr val="FFFFFF"/>
                </a:solidFill>
                <a:latin typeface="Segoe UI"/>
              </a:rPr>
              <a:t>2</a:t>
            </a:r>
          </a:p>
        </p:txBody>
      </p:sp>
      <p:sp>
        <p:nvSpPr>
          <p:cNvPr id="15" name="TextBox 14"/>
          <p:cNvSpPr txBox="1"/>
          <p:nvPr/>
        </p:nvSpPr>
        <p:spPr>
          <a:xfrm>
            <a:off x="3675888" y="3776472"/>
            <a:ext cx="1965960" cy="411480"/>
          </a:xfrm>
          <a:prstGeom prst="rect">
            <a:avLst/>
          </a:prstGeom>
          <a:noFill/>
        </p:spPr>
        <p:txBody>
          <a:bodyPr wrap="square" lIns="0" rIns="0" tIns="0" bIns="0" anchor="t">
            <a:noAutofit/>
          </a:bodyPr>
          <a:lstStyle/>
          <a:p>
            <a:pPr algn="l"/>
            <a:r>
              <a:rPr sz="1700" b="1">
                <a:solidFill>
                  <a:srgbClr val="F5EDF0"/>
                </a:solidFill>
                <a:latin typeface="Segoe UI"/>
              </a:rPr>
              <a:t>Watch it run</a:t>
            </a:r>
          </a:p>
        </p:txBody>
      </p:sp>
      <p:sp>
        <p:nvSpPr>
          <p:cNvPr id="16" name="TextBox 15"/>
          <p:cNvSpPr txBox="1"/>
          <p:nvPr/>
        </p:nvSpPr>
        <p:spPr>
          <a:xfrm>
            <a:off x="3675888" y="4206240"/>
            <a:ext cx="1965960" cy="1005840"/>
          </a:xfrm>
          <a:prstGeom prst="rect">
            <a:avLst/>
          </a:prstGeom>
          <a:noFill/>
        </p:spPr>
        <p:txBody>
          <a:bodyPr wrap="square" lIns="0" rIns="0" tIns="0" bIns="0" anchor="t">
            <a:noAutofit/>
          </a:bodyPr>
          <a:lstStyle/>
          <a:p>
            <a:pPr algn="l"/>
            <a:r>
              <a:rPr sz="1300" b="0">
                <a:solidFill>
                  <a:srgbClr val="A3959B"/>
                </a:solidFill>
                <a:latin typeface="Segoe UI"/>
              </a:rPr>
              <a:t>An animation shows every comparison and swap, step by step.</a:t>
            </a:r>
          </a:p>
        </p:txBody>
      </p:sp>
      <p:sp>
        <p:nvSpPr>
          <p:cNvPr id="17" name="TextBox 16"/>
          <p:cNvSpPr txBox="1"/>
          <p:nvPr/>
        </p:nvSpPr>
        <p:spPr>
          <a:xfrm>
            <a:off x="5916168" y="3703320"/>
            <a:ext cx="338328" cy="548640"/>
          </a:xfrm>
          <a:prstGeom prst="rect">
            <a:avLst/>
          </a:prstGeom>
          <a:noFill/>
        </p:spPr>
        <p:txBody>
          <a:bodyPr wrap="square" lIns="0" rIns="0" tIns="0" bIns="0" anchor="ctr">
            <a:noAutofit/>
          </a:bodyPr>
          <a:lstStyle/>
          <a:p>
            <a:pPr algn="ctr"/>
            <a:r>
              <a:rPr sz="2600" b="1">
                <a:solidFill>
                  <a:srgbClr val="5A2C3C"/>
                </a:solidFill>
                <a:latin typeface="Segoe UI"/>
              </a:rPr>
              <a:t>›</a:t>
            </a:r>
          </a:p>
        </p:txBody>
      </p:sp>
      <p:sp>
        <p:nvSpPr>
          <p:cNvPr id="18" name="Rounded Rectangle 17"/>
          <p:cNvSpPr/>
          <p:nvPr/>
        </p:nvSpPr>
        <p:spPr>
          <a:xfrm>
            <a:off x="6254496" y="2788920"/>
            <a:ext cx="2514600" cy="2286000"/>
          </a:xfrm>
          <a:prstGeom prst="roundRect">
            <a:avLst>
              <a:gd name="adj" fmla="val 5600"/>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528816" y="3081527"/>
            <a:ext cx="512064" cy="512064"/>
          </a:xfrm>
          <a:prstGeom prst="ellipse">
            <a:avLst/>
          </a:prstGeom>
          <a:solidFill>
            <a:srgbClr val="C2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528816" y="3081527"/>
            <a:ext cx="512064" cy="512064"/>
          </a:xfrm>
          <a:prstGeom prst="rect">
            <a:avLst/>
          </a:prstGeom>
          <a:noFill/>
        </p:spPr>
        <p:txBody>
          <a:bodyPr wrap="square" lIns="0" rIns="0" tIns="0" bIns="0" anchor="ctr">
            <a:noAutofit/>
          </a:bodyPr>
          <a:lstStyle/>
          <a:p>
            <a:pPr algn="ctr"/>
            <a:r>
              <a:rPr sz="1800" b="1">
                <a:solidFill>
                  <a:srgbClr val="FFFFFF"/>
                </a:solidFill>
                <a:latin typeface="Segoe UI"/>
              </a:rPr>
              <a:t>3</a:t>
            </a:r>
          </a:p>
        </p:txBody>
      </p:sp>
      <p:sp>
        <p:nvSpPr>
          <p:cNvPr id="21" name="TextBox 20"/>
          <p:cNvSpPr txBox="1"/>
          <p:nvPr/>
        </p:nvSpPr>
        <p:spPr>
          <a:xfrm>
            <a:off x="6528816" y="3776472"/>
            <a:ext cx="1965960" cy="411480"/>
          </a:xfrm>
          <a:prstGeom prst="rect">
            <a:avLst/>
          </a:prstGeom>
          <a:noFill/>
        </p:spPr>
        <p:txBody>
          <a:bodyPr wrap="square" lIns="0" rIns="0" tIns="0" bIns="0" anchor="t">
            <a:noAutofit/>
          </a:bodyPr>
          <a:lstStyle/>
          <a:p>
            <a:pPr algn="l"/>
            <a:r>
              <a:rPr sz="1700" b="1">
                <a:solidFill>
                  <a:srgbClr val="F5EDF0"/>
                </a:solidFill>
                <a:latin typeface="Segoe UI"/>
              </a:rPr>
              <a:t>Take the quiz</a:t>
            </a:r>
          </a:p>
        </p:txBody>
      </p:sp>
      <p:sp>
        <p:nvSpPr>
          <p:cNvPr id="22" name="TextBox 21"/>
          <p:cNvSpPr txBox="1"/>
          <p:nvPr/>
        </p:nvSpPr>
        <p:spPr>
          <a:xfrm>
            <a:off x="6528816" y="4206240"/>
            <a:ext cx="1965960" cy="1005840"/>
          </a:xfrm>
          <a:prstGeom prst="rect">
            <a:avLst/>
          </a:prstGeom>
          <a:noFill/>
        </p:spPr>
        <p:txBody>
          <a:bodyPr wrap="square" lIns="0" rIns="0" tIns="0" bIns="0" anchor="t">
            <a:noAutofit/>
          </a:bodyPr>
          <a:lstStyle/>
          <a:p>
            <a:pPr algn="l"/>
            <a:r>
              <a:rPr sz="1300" b="0">
                <a:solidFill>
                  <a:srgbClr val="A3959B"/>
                </a:solidFill>
                <a:latin typeface="Segoe UI"/>
              </a:rPr>
              <a:t>5 questions at the end of the level, with feedback on every answer.</a:t>
            </a:r>
          </a:p>
        </p:txBody>
      </p:sp>
      <p:sp>
        <p:nvSpPr>
          <p:cNvPr id="23" name="TextBox 22"/>
          <p:cNvSpPr txBox="1"/>
          <p:nvPr/>
        </p:nvSpPr>
        <p:spPr>
          <a:xfrm>
            <a:off x="8769096" y="3703320"/>
            <a:ext cx="338328" cy="548640"/>
          </a:xfrm>
          <a:prstGeom prst="rect">
            <a:avLst/>
          </a:prstGeom>
          <a:noFill/>
        </p:spPr>
        <p:txBody>
          <a:bodyPr wrap="square" lIns="0" rIns="0" tIns="0" bIns="0" anchor="ctr">
            <a:noAutofit/>
          </a:bodyPr>
          <a:lstStyle/>
          <a:p>
            <a:pPr algn="ctr"/>
            <a:r>
              <a:rPr sz="2600" b="1">
                <a:solidFill>
                  <a:srgbClr val="5A2C3C"/>
                </a:solidFill>
                <a:latin typeface="Segoe UI"/>
              </a:rPr>
              <a:t>›</a:t>
            </a:r>
          </a:p>
        </p:txBody>
      </p:sp>
      <p:sp>
        <p:nvSpPr>
          <p:cNvPr id="24" name="Rounded Rectangle 23"/>
          <p:cNvSpPr/>
          <p:nvPr/>
        </p:nvSpPr>
        <p:spPr>
          <a:xfrm>
            <a:off x="9107424" y="2788920"/>
            <a:ext cx="2514600" cy="2286000"/>
          </a:xfrm>
          <a:prstGeom prst="roundRect">
            <a:avLst>
              <a:gd name="adj" fmla="val 5600"/>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9381744" y="3081527"/>
            <a:ext cx="512064" cy="512064"/>
          </a:xfrm>
          <a:prstGeom prst="ellipse">
            <a:avLst/>
          </a:prstGeom>
          <a:solidFill>
            <a:srgbClr val="C2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381744" y="3081527"/>
            <a:ext cx="512064" cy="512064"/>
          </a:xfrm>
          <a:prstGeom prst="rect">
            <a:avLst/>
          </a:prstGeom>
          <a:noFill/>
        </p:spPr>
        <p:txBody>
          <a:bodyPr wrap="square" lIns="0" rIns="0" tIns="0" bIns="0" anchor="ctr">
            <a:noAutofit/>
          </a:bodyPr>
          <a:lstStyle/>
          <a:p>
            <a:pPr algn="ctr"/>
            <a:r>
              <a:rPr sz="1800" b="1">
                <a:solidFill>
                  <a:srgbClr val="FFFFFF"/>
                </a:solidFill>
                <a:latin typeface="Segoe UI"/>
              </a:rPr>
              <a:t>4</a:t>
            </a:r>
          </a:p>
        </p:txBody>
      </p:sp>
      <p:sp>
        <p:nvSpPr>
          <p:cNvPr id="27" name="TextBox 26"/>
          <p:cNvSpPr txBox="1"/>
          <p:nvPr/>
        </p:nvSpPr>
        <p:spPr>
          <a:xfrm>
            <a:off x="9381744" y="3776472"/>
            <a:ext cx="1965960" cy="411480"/>
          </a:xfrm>
          <a:prstGeom prst="rect">
            <a:avLst/>
          </a:prstGeom>
          <a:noFill/>
        </p:spPr>
        <p:txBody>
          <a:bodyPr wrap="square" lIns="0" rIns="0" tIns="0" bIns="0" anchor="t">
            <a:noAutofit/>
          </a:bodyPr>
          <a:lstStyle/>
          <a:p>
            <a:pPr algn="l"/>
            <a:r>
              <a:rPr sz="1700" b="1">
                <a:solidFill>
                  <a:srgbClr val="F5EDF0"/>
                </a:solidFill>
                <a:latin typeface="Segoe UI"/>
              </a:rPr>
              <a:t>Level up</a:t>
            </a:r>
          </a:p>
        </p:txBody>
      </p:sp>
      <p:sp>
        <p:nvSpPr>
          <p:cNvPr id="28" name="TextBox 27"/>
          <p:cNvSpPr txBox="1"/>
          <p:nvPr/>
        </p:nvSpPr>
        <p:spPr>
          <a:xfrm>
            <a:off x="9381744" y="4206240"/>
            <a:ext cx="1965960" cy="1005840"/>
          </a:xfrm>
          <a:prstGeom prst="rect">
            <a:avLst/>
          </a:prstGeom>
          <a:noFill/>
        </p:spPr>
        <p:txBody>
          <a:bodyPr wrap="square" lIns="0" rIns="0" tIns="0" bIns="0" anchor="t">
            <a:noAutofit/>
          </a:bodyPr>
          <a:lstStyle/>
          <a:p>
            <a:pPr algn="l"/>
            <a:r>
              <a:rPr sz="1300" b="0">
                <a:solidFill>
                  <a:srgbClr val="A3959B"/>
                </a:solidFill>
                <a:latin typeface="Segoe UI"/>
              </a:rPr>
              <a:t>Score 60% or more and the next level opens.</a:t>
            </a:r>
          </a:p>
        </p:txBody>
      </p:sp>
      <p:sp>
        <p:nvSpPr>
          <p:cNvPr id="29" name="TextBox 28"/>
          <p:cNvSpPr txBox="1"/>
          <p:nvPr/>
        </p:nvSpPr>
        <p:spPr>
          <a:xfrm>
            <a:off x="548640" y="6382512"/>
            <a:ext cx="5486400" cy="274320"/>
          </a:xfrm>
          <a:prstGeom prst="rect">
            <a:avLst/>
          </a:prstGeom>
          <a:noFill/>
        </p:spPr>
        <p:txBody>
          <a:bodyPr wrap="square" lIns="0" rIns="0" tIns="0" bIns="0" anchor="t">
            <a:noAutofit/>
          </a:bodyPr>
          <a:lstStyle/>
          <a:p>
            <a:pPr algn="l"/>
            <a:r>
              <a:rPr sz="1000" b="0">
                <a:solidFill>
                  <a:srgbClr val="A3959B"/>
                </a:solidFill>
                <a:latin typeface="Segoe UI"/>
              </a:rPr>
              <a:t>AlgoLearn  ·  SD Squad</a:t>
            </a:r>
          </a:p>
        </p:txBody>
      </p:sp>
      <p:sp>
        <p:nvSpPr>
          <p:cNvPr id="30" name="TextBox 29"/>
          <p:cNvSpPr txBox="1"/>
          <p:nvPr/>
        </p:nvSpPr>
        <p:spPr>
          <a:xfrm>
            <a:off x="10728655" y="6382512"/>
            <a:ext cx="914400" cy="274320"/>
          </a:xfrm>
          <a:prstGeom prst="rect">
            <a:avLst/>
          </a:prstGeom>
          <a:noFill/>
        </p:spPr>
        <p:txBody>
          <a:bodyPr wrap="square" lIns="0" rIns="0" tIns="0" bIns="0" anchor="t">
            <a:noAutofit/>
          </a:bodyPr>
          <a:lstStyle/>
          <a:p>
            <a:pPr algn="r"/>
            <a:r>
              <a:rPr sz="1000" b="0">
                <a:solidFill>
                  <a:srgbClr val="A3959B"/>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0E10"/>
        </a:solidFill>
        <a:effectLst/>
      </p:bgPr>
    </p:bg>
    <p:spTree>
      <p:nvGrpSpPr>
        <p:cNvPr id="1" name=""/>
        <p:cNvGrpSpPr/>
        <p:nvPr/>
      </p:nvGrpSpPr>
      <p:grpSpPr/>
      <p:sp>
        <p:nvSpPr>
          <p:cNvPr id="2" name="Title 1"/>
          <p:cNvSpPr>
            <a:spLocks noGrp="1"/>
          </p:cNvSpPr>
          <p:nvPr>
            <p:ph type="title"/>
          </p:nvPr>
        </p:nvSpPr>
        <p:spPr>
          <a:xfrm>
            <a:off x="548640" y="841248"/>
            <a:ext cx="11094415" cy="685800"/>
          </a:xfrm>
        </p:spPr>
        <p:txBody>
          <a:bodyPr wrap="square" lIns="0" rIns="0" tIns="0" bIns="0" anchor="t">
            <a:noAutofit/>
          </a:bodyPr>
          <a:lstStyle/>
          <a:p>
            <a:pPr algn="l"/>
            <a:r>
              <a:rPr sz="3000" b="1">
                <a:solidFill>
                  <a:srgbClr val="F5EDF0"/>
                </a:solidFill>
                <a:latin typeface="Segoe UI"/>
              </a:rPr>
              <a:t>Three levels, from first steps to real-world algorithms</a:t>
            </a:r>
          </a:p>
        </p:txBody>
      </p:sp>
      <p:sp>
        <p:nvSpPr>
          <p:cNvPr id="3" name="Rounded Rectangle 2"/>
          <p:cNvSpPr/>
          <p:nvPr/>
        </p:nvSpPr>
        <p:spPr>
          <a:xfrm>
            <a:off x="548640" y="457200"/>
            <a:ext cx="836676" cy="292608"/>
          </a:xfrm>
          <a:prstGeom prst="roundRect">
            <a:avLst>
              <a:gd name="adj" fmla="val 50000"/>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457200"/>
            <a:ext cx="836676" cy="292608"/>
          </a:xfrm>
          <a:prstGeom prst="rect">
            <a:avLst/>
          </a:prstGeom>
          <a:noFill/>
        </p:spPr>
        <p:txBody>
          <a:bodyPr wrap="square" lIns="0" rIns="0" tIns="0" bIns="0" anchor="ctr">
            <a:noAutofit/>
          </a:bodyPr>
          <a:lstStyle/>
          <a:p>
            <a:pPr algn="ctr"/>
            <a:r>
              <a:rPr sz="1100" b="1">
                <a:solidFill>
                  <a:srgbClr val="F48AAA"/>
                </a:solidFill>
                <a:latin typeface="Segoe UI"/>
              </a:rPr>
              <a:t>Content</a:t>
            </a:r>
          </a:p>
        </p:txBody>
      </p:sp>
      <p:sp>
        <p:nvSpPr>
          <p:cNvPr id="5" name="Rounded Rectangle 4"/>
          <p:cNvSpPr/>
          <p:nvPr/>
        </p:nvSpPr>
        <p:spPr>
          <a:xfrm>
            <a:off x="548640" y="1783080"/>
            <a:ext cx="3520440" cy="3611880"/>
          </a:xfrm>
          <a:prstGeom prst="roundRect">
            <a:avLst>
              <a:gd name="adj" fmla="val 3636"/>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822959" y="2057400"/>
            <a:ext cx="548640" cy="548640"/>
          </a:xfrm>
          <a:prstGeom prst="roundRect">
            <a:avLst>
              <a:gd name="adj" fmla="val 20000"/>
            </a:avLst>
          </a:prstGeom>
          <a:solidFill>
            <a:srgbClr val="173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2057400"/>
            <a:ext cx="548640" cy="548640"/>
          </a:xfrm>
          <a:prstGeom prst="rect">
            <a:avLst/>
          </a:prstGeom>
          <a:noFill/>
        </p:spPr>
        <p:txBody>
          <a:bodyPr wrap="square" lIns="0" rIns="0" tIns="0" bIns="0" anchor="ctr">
            <a:noAutofit/>
          </a:bodyPr>
          <a:lstStyle/>
          <a:p>
            <a:pPr algn="ctr"/>
            <a:r>
              <a:rPr sz="2000" b="1">
                <a:solidFill>
                  <a:srgbClr val="4CC38A"/>
                </a:solidFill>
                <a:latin typeface="Segoe UI"/>
              </a:rPr>
              <a:t>1</a:t>
            </a:r>
          </a:p>
        </p:txBody>
      </p:sp>
      <p:sp>
        <p:nvSpPr>
          <p:cNvPr id="8" name="Rounded Rectangle 7"/>
          <p:cNvSpPr/>
          <p:nvPr/>
        </p:nvSpPr>
        <p:spPr>
          <a:xfrm>
            <a:off x="3191256" y="2185416"/>
            <a:ext cx="603504" cy="292608"/>
          </a:xfrm>
          <a:prstGeom prst="roundRect">
            <a:avLst>
              <a:gd name="adj" fmla="val 50000"/>
            </a:avLst>
          </a:prstGeom>
          <a:solidFill>
            <a:srgbClr val="173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191256" y="2185416"/>
            <a:ext cx="603504" cy="292608"/>
          </a:xfrm>
          <a:prstGeom prst="rect">
            <a:avLst/>
          </a:prstGeom>
          <a:noFill/>
        </p:spPr>
        <p:txBody>
          <a:bodyPr wrap="square" lIns="0" rIns="0" tIns="0" bIns="0" anchor="ctr">
            <a:noAutofit/>
          </a:bodyPr>
          <a:lstStyle/>
          <a:p>
            <a:pPr algn="ctr"/>
            <a:r>
              <a:rPr sz="1100" b="1">
                <a:solidFill>
                  <a:srgbClr val="4CC38A"/>
                </a:solidFill>
                <a:latin typeface="Segoe UI"/>
              </a:rPr>
              <a:t>Easy</a:t>
            </a:r>
          </a:p>
        </p:txBody>
      </p:sp>
      <p:sp>
        <p:nvSpPr>
          <p:cNvPr id="10" name="TextBox 9"/>
          <p:cNvSpPr txBox="1"/>
          <p:nvPr/>
        </p:nvSpPr>
        <p:spPr>
          <a:xfrm>
            <a:off x="822959" y="2807208"/>
            <a:ext cx="2971800" cy="457200"/>
          </a:xfrm>
          <a:prstGeom prst="rect">
            <a:avLst/>
          </a:prstGeom>
          <a:noFill/>
        </p:spPr>
        <p:txBody>
          <a:bodyPr wrap="square" lIns="0" rIns="0" tIns="0" bIns="0" anchor="t">
            <a:noAutofit/>
          </a:bodyPr>
          <a:lstStyle/>
          <a:p>
            <a:pPr algn="l"/>
            <a:r>
              <a:rPr sz="2000" b="1">
                <a:solidFill>
                  <a:srgbClr val="F5EDF0"/>
                </a:solidFill>
                <a:latin typeface="Segoe UI"/>
              </a:rPr>
              <a:t>First Steps</a:t>
            </a:r>
          </a:p>
        </p:txBody>
      </p:sp>
      <p:sp>
        <p:nvSpPr>
          <p:cNvPr id="11" name="Oval 10"/>
          <p:cNvSpPr/>
          <p:nvPr/>
        </p:nvSpPr>
        <p:spPr>
          <a:xfrm>
            <a:off x="841247" y="3538728"/>
            <a:ext cx="100584" cy="100584"/>
          </a:xfrm>
          <a:prstGeom prst="ellipse">
            <a:avLst/>
          </a:prstGeom>
          <a:solidFill>
            <a:srgbClr val="4CC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78992" y="3429000"/>
            <a:ext cx="2697480" cy="329184"/>
          </a:xfrm>
          <a:prstGeom prst="rect">
            <a:avLst/>
          </a:prstGeom>
          <a:noFill/>
        </p:spPr>
        <p:txBody>
          <a:bodyPr wrap="square" lIns="0" rIns="0" tIns="0" bIns="0" anchor="t">
            <a:noAutofit/>
          </a:bodyPr>
          <a:lstStyle/>
          <a:p>
            <a:pPr algn="l"/>
            <a:r>
              <a:rPr sz="1400" b="0">
                <a:solidFill>
                  <a:srgbClr val="F5EDF0"/>
                </a:solidFill>
                <a:latin typeface="Segoe UI"/>
              </a:rPr>
              <a:t>Linear Search &amp; Big-O</a:t>
            </a:r>
          </a:p>
        </p:txBody>
      </p:sp>
      <p:sp>
        <p:nvSpPr>
          <p:cNvPr id="13" name="Oval 12"/>
          <p:cNvSpPr/>
          <p:nvPr/>
        </p:nvSpPr>
        <p:spPr>
          <a:xfrm>
            <a:off x="841247" y="3959352"/>
            <a:ext cx="100584" cy="100584"/>
          </a:xfrm>
          <a:prstGeom prst="ellipse">
            <a:avLst/>
          </a:prstGeom>
          <a:solidFill>
            <a:srgbClr val="4CC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8992" y="3849624"/>
            <a:ext cx="2697480" cy="329184"/>
          </a:xfrm>
          <a:prstGeom prst="rect">
            <a:avLst/>
          </a:prstGeom>
          <a:noFill/>
        </p:spPr>
        <p:txBody>
          <a:bodyPr wrap="square" lIns="0" rIns="0" tIns="0" bIns="0" anchor="t">
            <a:noAutofit/>
          </a:bodyPr>
          <a:lstStyle/>
          <a:p>
            <a:pPr algn="l"/>
            <a:r>
              <a:rPr sz="1400" b="0">
                <a:solidFill>
                  <a:srgbClr val="F5EDF0"/>
                </a:solidFill>
                <a:latin typeface="Segoe UI"/>
              </a:rPr>
              <a:t>Bubble Sort</a:t>
            </a:r>
          </a:p>
        </p:txBody>
      </p:sp>
      <p:sp>
        <p:nvSpPr>
          <p:cNvPr id="15" name="Oval 14"/>
          <p:cNvSpPr/>
          <p:nvPr/>
        </p:nvSpPr>
        <p:spPr>
          <a:xfrm>
            <a:off x="841247" y="4379976"/>
            <a:ext cx="100584" cy="100584"/>
          </a:xfrm>
          <a:prstGeom prst="ellipse">
            <a:avLst/>
          </a:prstGeom>
          <a:solidFill>
            <a:srgbClr val="4CC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78992" y="4270248"/>
            <a:ext cx="2697480" cy="329184"/>
          </a:xfrm>
          <a:prstGeom prst="rect">
            <a:avLst/>
          </a:prstGeom>
          <a:noFill/>
        </p:spPr>
        <p:txBody>
          <a:bodyPr wrap="square" lIns="0" rIns="0" tIns="0" bIns="0" anchor="t">
            <a:noAutofit/>
          </a:bodyPr>
          <a:lstStyle/>
          <a:p>
            <a:pPr algn="l"/>
            <a:r>
              <a:rPr sz="1400" b="0">
                <a:solidFill>
                  <a:srgbClr val="F5EDF0"/>
                </a:solidFill>
                <a:latin typeface="Segoe UI"/>
              </a:rPr>
              <a:t>Selection Sort</a:t>
            </a:r>
          </a:p>
        </p:txBody>
      </p:sp>
      <p:sp>
        <p:nvSpPr>
          <p:cNvPr id="17" name="TextBox 16"/>
          <p:cNvSpPr txBox="1"/>
          <p:nvPr/>
        </p:nvSpPr>
        <p:spPr>
          <a:xfrm>
            <a:off x="822959" y="4892040"/>
            <a:ext cx="2971800" cy="274320"/>
          </a:xfrm>
          <a:prstGeom prst="rect">
            <a:avLst/>
          </a:prstGeom>
          <a:noFill/>
        </p:spPr>
        <p:txBody>
          <a:bodyPr wrap="square" lIns="0" rIns="0" tIns="0" bIns="0" anchor="t">
            <a:noAutofit/>
          </a:bodyPr>
          <a:lstStyle/>
          <a:p>
            <a:pPr algn="l"/>
            <a:r>
              <a:rPr sz="1200" b="0">
                <a:solidFill>
                  <a:srgbClr val="A3959B"/>
                </a:solidFill>
                <a:latin typeface="Segoe UI"/>
              </a:rPr>
              <a:t>3 lessons  ·  5-question quiz</a:t>
            </a:r>
          </a:p>
        </p:txBody>
      </p:sp>
      <p:sp>
        <p:nvSpPr>
          <p:cNvPr id="18" name="Rounded Rectangle 17"/>
          <p:cNvSpPr/>
          <p:nvPr/>
        </p:nvSpPr>
        <p:spPr>
          <a:xfrm>
            <a:off x="4334255" y="1783080"/>
            <a:ext cx="3520440" cy="3611880"/>
          </a:xfrm>
          <a:prstGeom prst="roundRect">
            <a:avLst>
              <a:gd name="adj" fmla="val 3636"/>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4608575" y="2057400"/>
            <a:ext cx="548640" cy="548640"/>
          </a:xfrm>
          <a:prstGeom prst="roundRect">
            <a:avLst>
              <a:gd name="adj" fmla="val 20000"/>
            </a:avLst>
          </a:prstGeom>
          <a:solidFill>
            <a:srgbClr val="382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608575" y="2057400"/>
            <a:ext cx="548640" cy="548640"/>
          </a:xfrm>
          <a:prstGeom prst="rect">
            <a:avLst/>
          </a:prstGeom>
          <a:noFill/>
        </p:spPr>
        <p:txBody>
          <a:bodyPr wrap="square" lIns="0" rIns="0" tIns="0" bIns="0" anchor="ctr">
            <a:noAutofit/>
          </a:bodyPr>
          <a:lstStyle/>
          <a:p>
            <a:pPr algn="ctr"/>
            <a:r>
              <a:rPr sz="2000" b="1">
                <a:solidFill>
                  <a:srgbClr val="E3A63F"/>
                </a:solidFill>
                <a:latin typeface="Segoe UI"/>
              </a:rPr>
              <a:t>2</a:t>
            </a:r>
          </a:p>
        </p:txBody>
      </p:sp>
      <p:sp>
        <p:nvSpPr>
          <p:cNvPr id="21" name="Rounded Rectangle 20"/>
          <p:cNvSpPr/>
          <p:nvPr/>
        </p:nvSpPr>
        <p:spPr>
          <a:xfrm>
            <a:off x="6355079" y="2185416"/>
            <a:ext cx="1225296" cy="292608"/>
          </a:xfrm>
          <a:prstGeom prst="roundRect">
            <a:avLst>
              <a:gd name="adj" fmla="val 50000"/>
            </a:avLst>
          </a:prstGeom>
          <a:solidFill>
            <a:srgbClr val="382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55079" y="2185416"/>
            <a:ext cx="1225296" cy="292608"/>
          </a:xfrm>
          <a:prstGeom prst="rect">
            <a:avLst/>
          </a:prstGeom>
          <a:noFill/>
        </p:spPr>
        <p:txBody>
          <a:bodyPr wrap="square" lIns="0" rIns="0" tIns="0" bIns="0" anchor="ctr">
            <a:noAutofit/>
          </a:bodyPr>
          <a:lstStyle/>
          <a:p>
            <a:pPr algn="ctr"/>
            <a:r>
              <a:rPr sz="1100" b="1">
                <a:solidFill>
                  <a:srgbClr val="E3A63F"/>
                </a:solidFill>
                <a:latin typeface="Segoe UI"/>
              </a:rPr>
              <a:t>Intermediate</a:t>
            </a:r>
          </a:p>
        </p:txBody>
      </p:sp>
      <p:sp>
        <p:nvSpPr>
          <p:cNvPr id="23" name="TextBox 22"/>
          <p:cNvSpPr txBox="1"/>
          <p:nvPr/>
        </p:nvSpPr>
        <p:spPr>
          <a:xfrm>
            <a:off x="4608575" y="2807208"/>
            <a:ext cx="2971800" cy="457200"/>
          </a:xfrm>
          <a:prstGeom prst="rect">
            <a:avLst/>
          </a:prstGeom>
          <a:noFill/>
        </p:spPr>
        <p:txBody>
          <a:bodyPr wrap="square" lIns="0" rIns="0" tIns="0" bIns="0" anchor="t">
            <a:noAutofit/>
          </a:bodyPr>
          <a:lstStyle/>
          <a:p>
            <a:pPr algn="l"/>
            <a:r>
              <a:rPr sz="2000" b="1">
                <a:solidFill>
                  <a:srgbClr val="F5EDF0"/>
                </a:solidFill>
                <a:latin typeface="Segoe UI"/>
              </a:rPr>
              <a:t>Working Smarter</a:t>
            </a:r>
          </a:p>
        </p:txBody>
      </p:sp>
      <p:sp>
        <p:nvSpPr>
          <p:cNvPr id="24" name="Oval 23"/>
          <p:cNvSpPr/>
          <p:nvPr/>
        </p:nvSpPr>
        <p:spPr>
          <a:xfrm>
            <a:off x="4626864" y="3538728"/>
            <a:ext cx="100584" cy="100584"/>
          </a:xfrm>
          <a:prstGeom prst="ellipse">
            <a:avLst/>
          </a:prstGeom>
          <a:solidFill>
            <a:srgbClr val="E3A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864607" y="3429000"/>
            <a:ext cx="2697480" cy="329184"/>
          </a:xfrm>
          <a:prstGeom prst="rect">
            <a:avLst/>
          </a:prstGeom>
          <a:noFill/>
        </p:spPr>
        <p:txBody>
          <a:bodyPr wrap="square" lIns="0" rIns="0" tIns="0" bIns="0" anchor="t">
            <a:noAutofit/>
          </a:bodyPr>
          <a:lstStyle/>
          <a:p>
            <a:pPr algn="l"/>
            <a:r>
              <a:rPr sz="1400" b="0">
                <a:solidFill>
                  <a:srgbClr val="F5EDF0"/>
                </a:solidFill>
                <a:latin typeface="Segoe UI"/>
              </a:rPr>
              <a:t>Binary Search</a:t>
            </a:r>
          </a:p>
        </p:txBody>
      </p:sp>
      <p:sp>
        <p:nvSpPr>
          <p:cNvPr id="26" name="Oval 25"/>
          <p:cNvSpPr/>
          <p:nvPr/>
        </p:nvSpPr>
        <p:spPr>
          <a:xfrm>
            <a:off x="4626864" y="3959352"/>
            <a:ext cx="100584" cy="100584"/>
          </a:xfrm>
          <a:prstGeom prst="ellipse">
            <a:avLst/>
          </a:prstGeom>
          <a:solidFill>
            <a:srgbClr val="E3A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864607" y="3849624"/>
            <a:ext cx="2697480" cy="329184"/>
          </a:xfrm>
          <a:prstGeom prst="rect">
            <a:avLst/>
          </a:prstGeom>
          <a:noFill/>
        </p:spPr>
        <p:txBody>
          <a:bodyPr wrap="square" lIns="0" rIns="0" tIns="0" bIns="0" anchor="t">
            <a:noAutofit/>
          </a:bodyPr>
          <a:lstStyle/>
          <a:p>
            <a:pPr algn="l"/>
            <a:r>
              <a:rPr sz="1400" b="0">
                <a:solidFill>
                  <a:srgbClr val="F5EDF0"/>
                </a:solidFill>
                <a:latin typeface="Segoe UI"/>
              </a:rPr>
              <a:t>Insertion Sort</a:t>
            </a:r>
          </a:p>
        </p:txBody>
      </p:sp>
      <p:sp>
        <p:nvSpPr>
          <p:cNvPr id="28" name="Oval 27"/>
          <p:cNvSpPr/>
          <p:nvPr/>
        </p:nvSpPr>
        <p:spPr>
          <a:xfrm>
            <a:off x="4626864" y="4379976"/>
            <a:ext cx="100584" cy="100584"/>
          </a:xfrm>
          <a:prstGeom prst="ellipse">
            <a:avLst/>
          </a:prstGeom>
          <a:solidFill>
            <a:srgbClr val="E3A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864607" y="4270248"/>
            <a:ext cx="2697480" cy="329184"/>
          </a:xfrm>
          <a:prstGeom prst="rect">
            <a:avLst/>
          </a:prstGeom>
          <a:noFill/>
        </p:spPr>
        <p:txBody>
          <a:bodyPr wrap="square" lIns="0" rIns="0" tIns="0" bIns="0" anchor="t">
            <a:noAutofit/>
          </a:bodyPr>
          <a:lstStyle/>
          <a:p>
            <a:pPr algn="l"/>
            <a:r>
              <a:rPr sz="1400" b="0">
                <a:solidFill>
                  <a:srgbClr val="F5EDF0"/>
                </a:solidFill>
                <a:latin typeface="Segoe UI"/>
              </a:rPr>
              <a:t>Merge Sort</a:t>
            </a:r>
          </a:p>
        </p:txBody>
      </p:sp>
      <p:sp>
        <p:nvSpPr>
          <p:cNvPr id="30" name="TextBox 29"/>
          <p:cNvSpPr txBox="1"/>
          <p:nvPr/>
        </p:nvSpPr>
        <p:spPr>
          <a:xfrm>
            <a:off x="4608575" y="4892040"/>
            <a:ext cx="2971800" cy="274320"/>
          </a:xfrm>
          <a:prstGeom prst="rect">
            <a:avLst/>
          </a:prstGeom>
          <a:noFill/>
        </p:spPr>
        <p:txBody>
          <a:bodyPr wrap="square" lIns="0" rIns="0" tIns="0" bIns="0" anchor="t">
            <a:noAutofit/>
          </a:bodyPr>
          <a:lstStyle/>
          <a:p>
            <a:pPr algn="l"/>
            <a:r>
              <a:rPr sz="1200" b="0">
                <a:solidFill>
                  <a:srgbClr val="A3959B"/>
                </a:solidFill>
                <a:latin typeface="Segoe UI"/>
              </a:rPr>
              <a:t>3 lessons  ·  5-question quiz</a:t>
            </a:r>
          </a:p>
        </p:txBody>
      </p:sp>
      <p:sp>
        <p:nvSpPr>
          <p:cNvPr id="31" name="Rounded Rectangle 30"/>
          <p:cNvSpPr/>
          <p:nvPr/>
        </p:nvSpPr>
        <p:spPr>
          <a:xfrm>
            <a:off x="8119871" y="1783080"/>
            <a:ext cx="3520440" cy="3611880"/>
          </a:xfrm>
          <a:prstGeom prst="roundRect">
            <a:avLst>
              <a:gd name="adj" fmla="val 3636"/>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8394192" y="2057400"/>
            <a:ext cx="548640" cy="548640"/>
          </a:xfrm>
          <a:prstGeom prst="roundRect">
            <a:avLst>
              <a:gd name="adj" fmla="val 20000"/>
            </a:avLst>
          </a:prstGeom>
          <a:solidFill>
            <a:srgbClr val="26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94192" y="2057400"/>
            <a:ext cx="548640" cy="548640"/>
          </a:xfrm>
          <a:prstGeom prst="rect">
            <a:avLst/>
          </a:prstGeom>
          <a:noFill/>
        </p:spPr>
        <p:txBody>
          <a:bodyPr wrap="square" lIns="0" rIns="0" tIns="0" bIns="0" anchor="ctr">
            <a:noAutofit/>
          </a:bodyPr>
          <a:lstStyle/>
          <a:p>
            <a:pPr algn="ctr"/>
            <a:r>
              <a:rPr sz="2000" b="1">
                <a:solidFill>
                  <a:srgbClr val="A08CF0"/>
                </a:solidFill>
                <a:latin typeface="Segoe UI"/>
              </a:rPr>
              <a:t>3</a:t>
            </a:r>
          </a:p>
        </p:txBody>
      </p:sp>
      <p:sp>
        <p:nvSpPr>
          <p:cNvPr id="34" name="Rounded Rectangle 33"/>
          <p:cNvSpPr/>
          <p:nvPr/>
        </p:nvSpPr>
        <p:spPr>
          <a:xfrm>
            <a:off x="10762487" y="2185416"/>
            <a:ext cx="603504" cy="292608"/>
          </a:xfrm>
          <a:prstGeom prst="roundRect">
            <a:avLst>
              <a:gd name="adj" fmla="val 50000"/>
            </a:avLst>
          </a:prstGeom>
          <a:solidFill>
            <a:srgbClr val="26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762487" y="2185416"/>
            <a:ext cx="603504" cy="292608"/>
          </a:xfrm>
          <a:prstGeom prst="rect">
            <a:avLst/>
          </a:prstGeom>
          <a:noFill/>
        </p:spPr>
        <p:txBody>
          <a:bodyPr wrap="square" lIns="0" rIns="0" tIns="0" bIns="0" anchor="ctr">
            <a:noAutofit/>
          </a:bodyPr>
          <a:lstStyle/>
          <a:p>
            <a:pPr algn="ctr"/>
            <a:r>
              <a:rPr sz="1100" b="1">
                <a:solidFill>
                  <a:srgbClr val="A08CF0"/>
                </a:solidFill>
                <a:latin typeface="Segoe UI"/>
              </a:rPr>
              <a:t>Hard</a:t>
            </a:r>
          </a:p>
        </p:txBody>
      </p:sp>
      <p:sp>
        <p:nvSpPr>
          <p:cNvPr id="36" name="TextBox 35"/>
          <p:cNvSpPr txBox="1"/>
          <p:nvPr/>
        </p:nvSpPr>
        <p:spPr>
          <a:xfrm>
            <a:off x="8394192" y="2807208"/>
            <a:ext cx="2971800" cy="457200"/>
          </a:xfrm>
          <a:prstGeom prst="rect">
            <a:avLst/>
          </a:prstGeom>
          <a:noFill/>
        </p:spPr>
        <p:txBody>
          <a:bodyPr wrap="square" lIns="0" rIns="0" tIns="0" bIns="0" anchor="t">
            <a:noAutofit/>
          </a:bodyPr>
          <a:lstStyle/>
          <a:p>
            <a:pPr algn="l"/>
            <a:r>
              <a:rPr sz="2000" b="1">
                <a:solidFill>
                  <a:srgbClr val="F5EDF0"/>
                </a:solidFill>
                <a:latin typeface="Segoe UI"/>
              </a:rPr>
              <a:t>Real-World Algorithms</a:t>
            </a:r>
          </a:p>
        </p:txBody>
      </p:sp>
      <p:sp>
        <p:nvSpPr>
          <p:cNvPr id="37" name="Oval 36"/>
          <p:cNvSpPr/>
          <p:nvPr/>
        </p:nvSpPr>
        <p:spPr>
          <a:xfrm>
            <a:off x="8412480" y="3538728"/>
            <a:ext cx="100584" cy="100584"/>
          </a:xfrm>
          <a:prstGeom prst="ellipse">
            <a:avLst/>
          </a:prstGeom>
          <a:solidFill>
            <a:srgbClr val="A08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650224" y="3429000"/>
            <a:ext cx="2697480" cy="329184"/>
          </a:xfrm>
          <a:prstGeom prst="rect">
            <a:avLst/>
          </a:prstGeom>
          <a:noFill/>
        </p:spPr>
        <p:txBody>
          <a:bodyPr wrap="square" lIns="0" rIns="0" tIns="0" bIns="0" anchor="t">
            <a:noAutofit/>
          </a:bodyPr>
          <a:lstStyle/>
          <a:p>
            <a:pPr algn="l"/>
            <a:r>
              <a:rPr sz="1400" b="0">
                <a:solidFill>
                  <a:srgbClr val="F5EDF0"/>
                </a:solidFill>
                <a:latin typeface="Segoe UI"/>
              </a:rPr>
              <a:t>Quick Sort</a:t>
            </a:r>
          </a:p>
        </p:txBody>
      </p:sp>
      <p:sp>
        <p:nvSpPr>
          <p:cNvPr id="39" name="Oval 38"/>
          <p:cNvSpPr/>
          <p:nvPr/>
        </p:nvSpPr>
        <p:spPr>
          <a:xfrm>
            <a:off x="8412480" y="3959352"/>
            <a:ext cx="100584" cy="100584"/>
          </a:xfrm>
          <a:prstGeom prst="ellipse">
            <a:avLst/>
          </a:prstGeom>
          <a:solidFill>
            <a:srgbClr val="A08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650224" y="3849624"/>
            <a:ext cx="2697480" cy="329184"/>
          </a:xfrm>
          <a:prstGeom prst="rect">
            <a:avLst/>
          </a:prstGeom>
          <a:noFill/>
        </p:spPr>
        <p:txBody>
          <a:bodyPr wrap="square" lIns="0" rIns="0" tIns="0" bIns="0" anchor="t">
            <a:noAutofit/>
          </a:bodyPr>
          <a:lstStyle/>
          <a:p>
            <a:pPr algn="l"/>
            <a:r>
              <a:rPr sz="1400" b="0">
                <a:solidFill>
                  <a:srgbClr val="F5EDF0"/>
                </a:solidFill>
                <a:latin typeface="Segoe UI"/>
              </a:rPr>
              <a:t>Graphs: BFS &amp; DFS</a:t>
            </a:r>
          </a:p>
        </p:txBody>
      </p:sp>
      <p:sp>
        <p:nvSpPr>
          <p:cNvPr id="41" name="Oval 40"/>
          <p:cNvSpPr/>
          <p:nvPr/>
        </p:nvSpPr>
        <p:spPr>
          <a:xfrm>
            <a:off x="8412480" y="4379976"/>
            <a:ext cx="100584" cy="100584"/>
          </a:xfrm>
          <a:prstGeom prst="ellipse">
            <a:avLst/>
          </a:prstGeom>
          <a:solidFill>
            <a:srgbClr val="A08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650224" y="4270248"/>
            <a:ext cx="2697480" cy="329184"/>
          </a:xfrm>
          <a:prstGeom prst="rect">
            <a:avLst/>
          </a:prstGeom>
          <a:noFill/>
        </p:spPr>
        <p:txBody>
          <a:bodyPr wrap="square" lIns="0" rIns="0" tIns="0" bIns="0" anchor="t">
            <a:noAutofit/>
          </a:bodyPr>
          <a:lstStyle/>
          <a:p>
            <a:pPr algn="l"/>
            <a:r>
              <a:rPr sz="1400" b="0">
                <a:solidFill>
                  <a:srgbClr val="F5EDF0"/>
                </a:solidFill>
                <a:latin typeface="Segoe UI"/>
              </a:rPr>
              <a:t>Dijkstra's Shortest Path</a:t>
            </a:r>
          </a:p>
        </p:txBody>
      </p:sp>
      <p:sp>
        <p:nvSpPr>
          <p:cNvPr id="43" name="TextBox 42"/>
          <p:cNvSpPr txBox="1"/>
          <p:nvPr/>
        </p:nvSpPr>
        <p:spPr>
          <a:xfrm>
            <a:off x="8394192" y="4892040"/>
            <a:ext cx="2971800" cy="274320"/>
          </a:xfrm>
          <a:prstGeom prst="rect">
            <a:avLst/>
          </a:prstGeom>
          <a:noFill/>
        </p:spPr>
        <p:txBody>
          <a:bodyPr wrap="square" lIns="0" rIns="0" tIns="0" bIns="0" anchor="t">
            <a:noAutofit/>
          </a:bodyPr>
          <a:lstStyle/>
          <a:p>
            <a:pPr algn="l"/>
            <a:r>
              <a:rPr sz="1200" b="0">
                <a:solidFill>
                  <a:srgbClr val="A3959B"/>
                </a:solidFill>
                <a:latin typeface="Segoe UI"/>
              </a:rPr>
              <a:t>3 lessons  ·  5-question quiz</a:t>
            </a:r>
          </a:p>
        </p:txBody>
      </p:sp>
      <p:sp>
        <p:nvSpPr>
          <p:cNvPr id="44" name="Rounded Rectangle 43"/>
          <p:cNvSpPr/>
          <p:nvPr/>
        </p:nvSpPr>
        <p:spPr>
          <a:xfrm>
            <a:off x="548640" y="5596128"/>
            <a:ext cx="11094415" cy="566928"/>
          </a:xfrm>
          <a:prstGeom prst="roundRect">
            <a:avLst>
              <a:gd name="adj" fmla="val 19354"/>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822959" y="5596128"/>
            <a:ext cx="10545775" cy="566928"/>
          </a:xfrm>
          <a:prstGeom prst="rect">
            <a:avLst/>
          </a:prstGeom>
          <a:noFill/>
        </p:spPr>
        <p:txBody>
          <a:bodyPr wrap="square" lIns="0" rIns="0" tIns="0" bIns="0" anchor="ctr">
            <a:noAutofit/>
          </a:bodyPr>
          <a:lstStyle/>
          <a:p>
            <a:pPr algn="l"/>
            <a:r>
              <a:rPr sz="1400" b="1">
                <a:solidFill>
                  <a:srgbClr val="F48AAA"/>
                </a:solidFill>
                <a:latin typeface="Segoe UI"/>
              </a:rPr>
              <a:t>Pass mark: 60%.  </a:t>
            </a:r>
            <a:r>
              <a:rPr sz="1400" b="0">
                <a:solidFill>
                  <a:srgbClr val="F5EDF0"/>
                </a:solidFill>
                <a:latin typeface="Segoe UI"/>
              </a:rPr>
              <a:t>Get at least 3 of 5 questions right in a level's milestone quiz to unlock the next level.</a:t>
            </a:r>
          </a:p>
        </p:txBody>
      </p:sp>
      <p:sp>
        <p:nvSpPr>
          <p:cNvPr id="46" name="TextBox 45"/>
          <p:cNvSpPr txBox="1"/>
          <p:nvPr/>
        </p:nvSpPr>
        <p:spPr>
          <a:xfrm>
            <a:off x="548640" y="6382512"/>
            <a:ext cx="5486400" cy="274320"/>
          </a:xfrm>
          <a:prstGeom prst="rect">
            <a:avLst/>
          </a:prstGeom>
          <a:noFill/>
        </p:spPr>
        <p:txBody>
          <a:bodyPr wrap="square" lIns="0" rIns="0" tIns="0" bIns="0" anchor="t">
            <a:noAutofit/>
          </a:bodyPr>
          <a:lstStyle/>
          <a:p>
            <a:pPr algn="l"/>
            <a:r>
              <a:rPr sz="1000" b="0">
                <a:solidFill>
                  <a:srgbClr val="A3959B"/>
                </a:solidFill>
                <a:latin typeface="Segoe UI"/>
              </a:rPr>
              <a:t>AlgoLearn  ·  SD Squad</a:t>
            </a:r>
          </a:p>
        </p:txBody>
      </p:sp>
      <p:sp>
        <p:nvSpPr>
          <p:cNvPr id="47" name="TextBox 46"/>
          <p:cNvSpPr txBox="1"/>
          <p:nvPr/>
        </p:nvSpPr>
        <p:spPr>
          <a:xfrm>
            <a:off x="10728655" y="6382512"/>
            <a:ext cx="914400" cy="274320"/>
          </a:xfrm>
          <a:prstGeom prst="rect">
            <a:avLst/>
          </a:prstGeom>
          <a:noFill/>
        </p:spPr>
        <p:txBody>
          <a:bodyPr wrap="square" lIns="0" rIns="0" tIns="0" bIns="0" anchor="t">
            <a:noAutofit/>
          </a:bodyPr>
          <a:lstStyle/>
          <a:p>
            <a:pPr algn="r"/>
            <a:r>
              <a:rPr sz="1000" b="0">
                <a:solidFill>
                  <a:srgbClr val="A3959B"/>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0E10"/>
        </a:solidFill>
        <a:effectLst/>
      </p:bgPr>
    </p:bg>
    <p:spTree>
      <p:nvGrpSpPr>
        <p:cNvPr id="1" name=""/>
        <p:cNvGrpSpPr/>
        <p:nvPr/>
      </p:nvGrpSpPr>
      <p:grpSpPr/>
      <p:sp>
        <p:nvSpPr>
          <p:cNvPr id="2" name="Title 1"/>
          <p:cNvSpPr>
            <a:spLocks noGrp="1"/>
          </p:cNvSpPr>
          <p:nvPr>
            <p:ph type="title"/>
          </p:nvPr>
        </p:nvSpPr>
        <p:spPr>
          <a:xfrm>
            <a:off x="548640" y="841248"/>
            <a:ext cx="11094415" cy="685800"/>
          </a:xfrm>
        </p:spPr>
        <p:txBody>
          <a:bodyPr wrap="square" lIns="0" rIns="0" tIns="0" bIns="0" anchor="t">
            <a:noAutofit/>
          </a:bodyPr>
          <a:lstStyle/>
          <a:p>
            <a:pPr algn="l"/>
            <a:r>
              <a:rPr sz="3000" b="1">
                <a:solidFill>
                  <a:srgbClr val="F5EDF0"/>
                </a:solidFill>
                <a:latin typeface="Segoe UI"/>
              </a:rPr>
              <a:t>Who does what in Phase 1</a:t>
            </a:r>
          </a:p>
        </p:txBody>
      </p:sp>
      <p:sp>
        <p:nvSpPr>
          <p:cNvPr id="3" name="Rounded Rectangle 2"/>
          <p:cNvSpPr/>
          <p:nvPr/>
        </p:nvSpPr>
        <p:spPr>
          <a:xfrm>
            <a:off x="548640" y="457200"/>
            <a:ext cx="603504" cy="292608"/>
          </a:xfrm>
          <a:prstGeom prst="roundRect">
            <a:avLst>
              <a:gd name="adj" fmla="val 50000"/>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457200"/>
            <a:ext cx="603504" cy="292608"/>
          </a:xfrm>
          <a:prstGeom prst="rect">
            <a:avLst/>
          </a:prstGeom>
          <a:noFill/>
        </p:spPr>
        <p:txBody>
          <a:bodyPr wrap="square" lIns="0" rIns="0" tIns="0" bIns="0" anchor="ctr">
            <a:noAutofit/>
          </a:bodyPr>
          <a:lstStyle/>
          <a:p>
            <a:pPr algn="ctr"/>
            <a:r>
              <a:rPr sz="1100" b="1">
                <a:solidFill>
                  <a:srgbClr val="F48AAA"/>
                </a:solidFill>
                <a:latin typeface="Segoe UI"/>
              </a:rPr>
              <a:t>Team</a:t>
            </a:r>
          </a:p>
        </p:txBody>
      </p:sp>
      <p:sp>
        <p:nvSpPr>
          <p:cNvPr id="5" name="Rounded Rectangle 4"/>
          <p:cNvSpPr/>
          <p:nvPr/>
        </p:nvSpPr>
        <p:spPr>
          <a:xfrm>
            <a:off x="548640" y="1783080"/>
            <a:ext cx="2587752" cy="3566160"/>
          </a:xfrm>
          <a:prstGeom prst="roundRect">
            <a:avLst>
              <a:gd name="adj" fmla="val 4946"/>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22959" y="2075688"/>
            <a:ext cx="713232" cy="713232"/>
          </a:xfrm>
          <a:prstGeom prst="ellipse">
            <a:avLst/>
          </a:prstGeom>
          <a:solidFill>
            <a:srgbClr val="C2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2075688"/>
            <a:ext cx="713232" cy="713232"/>
          </a:xfrm>
          <a:prstGeom prst="rect">
            <a:avLst/>
          </a:prstGeom>
          <a:noFill/>
        </p:spPr>
        <p:txBody>
          <a:bodyPr wrap="square" lIns="0" rIns="0" tIns="0" bIns="0" anchor="ctr">
            <a:noAutofit/>
          </a:bodyPr>
          <a:lstStyle/>
          <a:p>
            <a:pPr algn="ctr"/>
            <a:r>
              <a:rPr sz="2400" b="1">
                <a:solidFill>
                  <a:srgbClr val="FFFFFF"/>
                </a:solidFill>
                <a:latin typeface="Segoe UI"/>
              </a:rPr>
              <a:t>T</a:t>
            </a:r>
          </a:p>
        </p:txBody>
      </p:sp>
      <p:sp>
        <p:nvSpPr>
          <p:cNvPr id="8" name="TextBox 7"/>
          <p:cNvSpPr txBox="1"/>
          <p:nvPr/>
        </p:nvSpPr>
        <p:spPr>
          <a:xfrm>
            <a:off x="822959" y="2990088"/>
            <a:ext cx="2039112" cy="384048"/>
          </a:xfrm>
          <a:prstGeom prst="rect">
            <a:avLst/>
          </a:prstGeom>
          <a:noFill/>
        </p:spPr>
        <p:txBody>
          <a:bodyPr wrap="square" lIns="0" rIns="0" tIns="0" bIns="0" anchor="t">
            <a:noAutofit/>
          </a:bodyPr>
          <a:lstStyle/>
          <a:p>
            <a:pPr algn="l"/>
            <a:r>
              <a:rPr sz="1700" b="1">
                <a:solidFill>
                  <a:srgbClr val="F5EDF0"/>
                </a:solidFill>
                <a:latin typeface="Segoe UI"/>
              </a:rPr>
              <a:t>Toumani Adib</a:t>
            </a:r>
          </a:p>
        </p:txBody>
      </p:sp>
      <p:sp>
        <p:nvSpPr>
          <p:cNvPr id="9" name="Rounded Rectangle 8"/>
          <p:cNvSpPr/>
          <p:nvPr/>
        </p:nvSpPr>
        <p:spPr>
          <a:xfrm>
            <a:off x="822959" y="3429000"/>
            <a:ext cx="1225296" cy="292608"/>
          </a:xfrm>
          <a:prstGeom prst="roundRect">
            <a:avLst>
              <a:gd name="adj" fmla="val 50000"/>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3429000"/>
            <a:ext cx="1225296" cy="292608"/>
          </a:xfrm>
          <a:prstGeom prst="rect">
            <a:avLst/>
          </a:prstGeom>
          <a:noFill/>
        </p:spPr>
        <p:txBody>
          <a:bodyPr wrap="square" lIns="0" rIns="0" tIns="0" bIns="0" anchor="ctr">
            <a:noAutofit/>
          </a:bodyPr>
          <a:lstStyle/>
          <a:p>
            <a:pPr algn="ctr"/>
            <a:r>
              <a:rPr sz="1100" b="1">
                <a:solidFill>
                  <a:srgbClr val="F48AAA"/>
                </a:solidFill>
                <a:latin typeface="Segoe UI"/>
              </a:rPr>
              <a:t>UI/UX design</a:t>
            </a:r>
          </a:p>
        </p:txBody>
      </p:sp>
      <p:sp>
        <p:nvSpPr>
          <p:cNvPr id="11" name="TextBox 10"/>
          <p:cNvSpPr txBox="1"/>
          <p:nvPr/>
        </p:nvSpPr>
        <p:spPr>
          <a:xfrm>
            <a:off x="822959" y="3931920"/>
            <a:ext cx="2039112" cy="1280160"/>
          </a:xfrm>
          <a:prstGeom prst="rect">
            <a:avLst/>
          </a:prstGeom>
          <a:noFill/>
        </p:spPr>
        <p:txBody>
          <a:bodyPr wrap="square" lIns="0" rIns="0" tIns="0" bIns="0" anchor="t">
            <a:noAutofit/>
          </a:bodyPr>
          <a:lstStyle/>
          <a:p>
            <a:pPr algn="l"/>
            <a:r>
              <a:rPr sz="1300" b="0">
                <a:solidFill>
                  <a:srgbClr val="A3959B"/>
                </a:solidFill>
                <a:latin typeface="Segoe UI"/>
              </a:rPr>
              <a:t>Designed every screen, the design system and the clickable prototype in Figma.</a:t>
            </a:r>
          </a:p>
        </p:txBody>
      </p:sp>
      <p:sp>
        <p:nvSpPr>
          <p:cNvPr id="12" name="Rounded Rectangle 11"/>
          <p:cNvSpPr/>
          <p:nvPr/>
        </p:nvSpPr>
        <p:spPr>
          <a:xfrm>
            <a:off x="3383280" y="1783080"/>
            <a:ext cx="2587752" cy="3566160"/>
          </a:xfrm>
          <a:prstGeom prst="roundRect">
            <a:avLst>
              <a:gd name="adj" fmla="val 4946"/>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657600" y="2075688"/>
            <a:ext cx="713232" cy="713232"/>
          </a:xfrm>
          <a:prstGeom prst="ellipse">
            <a:avLst/>
          </a:prstGeom>
          <a:solidFill>
            <a:srgbClr val="4CC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657600" y="2075688"/>
            <a:ext cx="713232" cy="713232"/>
          </a:xfrm>
          <a:prstGeom prst="rect">
            <a:avLst/>
          </a:prstGeom>
          <a:noFill/>
        </p:spPr>
        <p:txBody>
          <a:bodyPr wrap="square" lIns="0" rIns="0" tIns="0" bIns="0" anchor="ctr">
            <a:noAutofit/>
          </a:bodyPr>
          <a:lstStyle/>
          <a:p>
            <a:pPr algn="ctr"/>
            <a:r>
              <a:rPr sz="2400" b="1">
                <a:solidFill>
                  <a:srgbClr val="120E10"/>
                </a:solidFill>
                <a:latin typeface="Segoe UI"/>
              </a:rPr>
              <a:t>S</a:t>
            </a:r>
          </a:p>
        </p:txBody>
      </p:sp>
      <p:sp>
        <p:nvSpPr>
          <p:cNvPr id="15" name="TextBox 14"/>
          <p:cNvSpPr txBox="1"/>
          <p:nvPr/>
        </p:nvSpPr>
        <p:spPr>
          <a:xfrm>
            <a:off x="3657600" y="2990088"/>
            <a:ext cx="2039112" cy="384048"/>
          </a:xfrm>
          <a:prstGeom prst="rect">
            <a:avLst/>
          </a:prstGeom>
          <a:noFill/>
        </p:spPr>
        <p:txBody>
          <a:bodyPr wrap="square" lIns="0" rIns="0" tIns="0" bIns="0" anchor="t">
            <a:noAutofit/>
          </a:bodyPr>
          <a:lstStyle/>
          <a:p>
            <a:pPr algn="l"/>
            <a:r>
              <a:rPr sz="1700" b="1">
                <a:solidFill>
                  <a:srgbClr val="F5EDF0"/>
                </a:solidFill>
                <a:latin typeface="Segoe UI"/>
              </a:rPr>
              <a:t>Alhamad Solaiman</a:t>
            </a:r>
          </a:p>
        </p:txBody>
      </p:sp>
      <p:sp>
        <p:nvSpPr>
          <p:cNvPr id="16" name="Rounded Rectangle 15"/>
          <p:cNvSpPr/>
          <p:nvPr/>
        </p:nvSpPr>
        <p:spPr>
          <a:xfrm>
            <a:off x="3657600" y="3429000"/>
            <a:ext cx="1613916" cy="292608"/>
          </a:xfrm>
          <a:prstGeom prst="roundRect">
            <a:avLst>
              <a:gd name="adj" fmla="val 50000"/>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657600" y="3429000"/>
            <a:ext cx="1613916" cy="292608"/>
          </a:xfrm>
          <a:prstGeom prst="rect">
            <a:avLst/>
          </a:prstGeom>
          <a:noFill/>
        </p:spPr>
        <p:txBody>
          <a:bodyPr wrap="square" lIns="0" rIns="0" tIns="0" bIns="0" anchor="ctr">
            <a:noAutofit/>
          </a:bodyPr>
          <a:lstStyle/>
          <a:p>
            <a:pPr algn="ctr"/>
            <a:r>
              <a:rPr sz="1100" b="1">
                <a:solidFill>
                  <a:srgbClr val="F48AAA"/>
                </a:solidFill>
                <a:latin typeface="Segoe UI"/>
              </a:rPr>
              <a:t>Learning material</a:t>
            </a:r>
          </a:p>
        </p:txBody>
      </p:sp>
      <p:sp>
        <p:nvSpPr>
          <p:cNvPr id="18" name="TextBox 17"/>
          <p:cNvSpPr txBox="1"/>
          <p:nvPr/>
        </p:nvSpPr>
        <p:spPr>
          <a:xfrm>
            <a:off x="3657600" y="3931920"/>
            <a:ext cx="2039112" cy="1280160"/>
          </a:xfrm>
          <a:prstGeom prst="rect">
            <a:avLst/>
          </a:prstGeom>
          <a:noFill/>
        </p:spPr>
        <p:txBody>
          <a:bodyPr wrap="square" lIns="0" rIns="0" tIns="0" bIns="0" anchor="t">
            <a:noAutofit/>
          </a:bodyPr>
          <a:lstStyle/>
          <a:p>
            <a:pPr algn="l"/>
            <a:r>
              <a:rPr sz="1300" b="0">
                <a:solidFill>
                  <a:srgbClr val="A3959B"/>
                </a:solidFill>
                <a:latin typeface="Segoe UI"/>
              </a:rPr>
              <a:t>Wrote the 9 lessons: explanation, steps, Java code and complexity.</a:t>
            </a:r>
          </a:p>
        </p:txBody>
      </p:sp>
      <p:sp>
        <p:nvSpPr>
          <p:cNvPr id="19" name="Rounded Rectangle 18"/>
          <p:cNvSpPr/>
          <p:nvPr/>
        </p:nvSpPr>
        <p:spPr>
          <a:xfrm>
            <a:off x="6217920" y="1783080"/>
            <a:ext cx="2587752" cy="3566160"/>
          </a:xfrm>
          <a:prstGeom prst="roundRect">
            <a:avLst>
              <a:gd name="adj" fmla="val 4946"/>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492240" y="2075688"/>
            <a:ext cx="713232" cy="713232"/>
          </a:xfrm>
          <a:prstGeom prst="ellipse">
            <a:avLst/>
          </a:prstGeom>
          <a:solidFill>
            <a:srgbClr val="E3A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92240" y="2075688"/>
            <a:ext cx="713232" cy="713232"/>
          </a:xfrm>
          <a:prstGeom prst="rect">
            <a:avLst/>
          </a:prstGeom>
          <a:noFill/>
        </p:spPr>
        <p:txBody>
          <a:bodyPr wrap="square" lIns="0" rIns="0" tIns="0" bIns="0" anchor="ctr">
            <a:noAutofit/>
          </a:bodyPr>
          <a:lstStyle/>
          <a:p>
            <a:pPr algn="ctr"/>
            <a:r>
              <a:rPr sz="2400" b="1">
                <a:solidFill>
                  <a:srgbClr val="120E10"/>
                </a:solidFill>
                <a:latin typeface="Segoe UI"/>
              </a:rPr>
              <a:t>Y</a:t>
            </a:r>
          </a:p>
        </p:txBody>
      </p:sp>
      <p:sp>
        <p:nvSpPr>
          <p:cNvPr id="22" name="TextBox 21"/>
          <p:cNvSpPr txBox="1"/>
          <p:nvPr/>
        </p:nvSpPr>
        <p:spPr>
          <a:xfrm>
            <a:off x="6492240" y="2990088"/>
            <a:ext cx="2039112" cy="384048"/>
          </a:xfrm>
          <a:prstGeom prst="rect">
            <a:avLst/>
          </a:prstGeom>
          <a:noFill/>
        </p:spPr>
        <p:txBody>
          <a:bodyPr wrap="square" lIns="0" rIns="0" tIns="0" bIns="0" anchor="t">
            <a:noAutofit/>
          </a:bodyPr>
          <a:lstStyle/>
          <a:p>
            <a:pPr algn="l"/>
            <a:r>
              <a:rPr sz="1700" b="1">
                <a:solidFill>
                  <a:srgbClr val="F5EDF0"/>
                </a:solidFill>
                <a:latin typeface="Segoe UI"/>
              </a:rPr>
              <a:t>Youssef Jelassi</a:t>
            </a:r>
          </a:p>
        </p:txBody>
      </p:sp>
      <p:sp>
        <p:nvSpPr>
          <p:cNvPr id="23" name="Rounded Rectangle 22"/>
          <p:cNvSpPr/>
          <p:nvPr/>
        </p:nvSpPr>
        <p:spPr>
          <a:xfrm>
            <a:off x="6492240" y="3429000"/>
            <a:ext cx="1380744" cy="292608"/>
          </a:xfrm>
          <a:prstGeom prst="roundRect">
            <a:avLst>
              <a:gd name="adj" fmla="val 50000"/>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92240" y="3429000"/>
            <a:ext cx="1380744" cy="292608"/>
          </a:xfrm>
          <a:prstGeom prst="rect">
            <a:avLst/>
          </a:prstGeom>
          <a:noFill/>
        </p:spPr>
        <p:txBody>
          <a:bodyPr wrap="square" lIns="0" rIns="0" tIns="0" bIns="0" anchor="ctr">
            <a:noAutofit/>
          </a:bodyPr>
          <a:lstStyle/>
          <a:p>
            <a:pPr algn="ctr"/>
            <a:r>
              <a:rPr sz="1100" b="1">
                <a:solidFill>
                  <a:srgbClr val="F48AAA"/>
                </a:solidFill>
                <a:latin typeface="Segoe UI"/>
              </a:rPr>
              <a:t>Quiz questions</a:t>
            </a:r>
          </a:p>
        </p:txBody>
      </p:sp>
      <p:sp>
        <p:nvSpPr>
          <p:cNvPr id="25" name="TextBox 24"/>
          <p:cNvSpPr txBox="1"/>
          <p:nvPr/>
        </p:nvSpPr>
        <p:spPr>
          <a:xfrm>
            <a:off x="6492240" y="3931920"/>
            <a:ext cx="2039112" cy="1280160"/>
          </a:xfrm>
          <a:prstGeom prst="rect">
            <a:avLst/>
          </a:prstGeom>
          <a:noFill/>
        </p:spPr>
        <p:txBody>
          <a:bodyPr wrap="square" lIns="0" rIns="0" tIns="0" bIns="0" anchor="t">
            <a:noAutofit/>
          </a:bodyPr>
          <a:lstStyle/>
          <a:p>
            <a:pPr algn="l"/>
            <a:r>
              <a:rPr sz="1300" b="0">
                <a:solidFill>
                  <a:srgbClr val="A3959B"/>
                </a:solidFill>
                <a:latin typeface="Segoe UI"/>
              </a:rPr>
              <a:t>Wrote the 15 milestone quiz questions with answers and explanations.</a:t>
            </a:r>
          </a:p>
        </p:txBody>
      </p:sp>
      <p:sp>
        <p:nvSpPr>
          <p:cNvPr id="26" name="Rounded Rectangle 25"/>
          <p:cNvSpPr/>
          <p:nvPr/>
        </p:nvSpPr>
        <p:spPr>
          <a:xfrm>
            <a:off x="9052560" y="1783080"/>
            <a:ext cx="2587752" cy="3566160"/>
          </a:xfrm>
          <a:prstGeom prst="roundRect">
            <a:avLst>
              <a:gd name="adj" fmla="val 4946"/>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326880" y="2075688"/>
            <a:ext cx="713232" cy="713232"/>
          </a:xfrm>
          <a:prstGeom prst="ellipse">
            <a:avLst/>
          </a:prstGeom>
          <a:solidFill>
            <a:srgbClr val="A08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326880" y="2075688"/>
            <a:ext cx="713232" cy="713232"/>
          </a:xfrm>
          <a:prstGeom prst="rect">
            <a:avLst/>
          </a:prstGeom>
          <a:noFill/>
        </p:spPr>
        <p:txBody>
          <a:bodyPr wrap="square" lIns="0" rIns="0" tIns="0" bIns="0" anchor="ctr">
            <a:noAutofit/>
          </a:bodyPr>
          <a:lstStyle/>
          <a:p>
            <a:pPr algn="ctr"/>
            <a:r>
              <a:rPr sz="2400" b="1">
                <a:solidFill>
                  <a:srgbClr val="120E10"/>
                </a:solidFill>
                <a:latin typeface="Segoe UI"/>
              </a:rPr>
              <a:t>F</a:t>
            </a:r>
          </a:p>
        </p:txBody>
      </p:sp>
      <p:sp>
        <p:nvSpPr>
          <p:cNvPr id="29" name="TextBox 28"/>
          <p:cNvSpPr txBox="1"/>
          <p:nvPr/>
        </p:nvSpPr>
        <p:spPr>
          <a:xfrm>
            <a:off x="9326880" y="2990088"/>
            <a:ext cx="2039112" cy="384048"/>
          </a:xfrm>
          <a:prstGeom prst="rect">
            <a:avLst/>
          </a:prstGeom>
          <a:noFill/>
        </p:spPr>
        <p:txBody>
          <a:bodyPr wrap="square" lIns="0" rIns="0" tIns="0" bIns="0" anchor="t">
            <a:noAutofit/>
          </a:bodyPr>
          <a:lstStyle/>
          <a:p>
            <a:pPr algn="l"/>
            <a:r>
              <a:rPr sz="1700" b="1">
                <a:solidFill>
                  <a:srgbClr val="F5EDF0"/>
                </a:solidFill>
                <a:latin typeface="Segoe UI"/>
              </a:rPr>
              <a:t>Feryel</a:t>
            </a:r>
          </a:p>
        </p:txBody>
      </p:sp>
      <p:sp>
        <p:nvSpPr>
          <p:cNvPr id="30" name="Rounded Rectangle 29"/>
          <p:cNvSpPr/>
          <p:nvPr/>
        </p:nvSpPr>
        <p:spPr>
          <a:xfrm>
            <a:off x="9326880" y="3429000"/>
            <a:ext cx="1225296" cy="292608"/>
          </a:xfrm>
          <a:prstGeom prst="roundRect">
            <a:avLst>
              <a:gd name="adj" fmla="val 50000"/>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326880" y="3429000"/>
            <a:ext cx="1225296" cy="292608"/>
          </a:xfrm>
          <a:prstGeom prst="rect">
            <a:avLst/>
          </a:prstGeom>
          <a:noFill/>
        </p:spPr>
        <p:txBody>
          <a:bodyPr wrap="square" lIns="0" rIns="0" tIns="0" bIns="0" anchor="ctr">
            <a:noAutofit/>
          </a:bodyPr>
          <a:lstStyle/>
          <a:p>
            <a:pPr algn="ctr"/>
            <a:r>
              <a:rPr sz="1100" b="1">
                <a:solidFill>
                  <a:srgbClr val="F48AAA"/>
                </a:solidFill>
                <a:latin typeface="Segoe UI"/>
              </a:rPr>
              <a:t>Presentation</a:t>
            </a:r>
          </a:p>
        </p:txBody>
      </p:sp>
      <p:sp>
        <p:nvSpPr>
          <p:cNvPr id="32" name="TextBox 31"/>
          <p:cNvSpPr txBox="1"/>
          <p:nvPr/>
        </p:nvSpPr>
        <p:spPr>
          <a:xfrm>
            <a:off x="9326880" y="3931920"/>
            <a:ext cx="2039112" cy="1280160"/>
          </a:xfrm>
          <a:prstGeom prst="rect">
            <a:avLst/>
          </a:prstGeom>
          <a:noFill/>
        </p:spPr>
        <p:txBody>
          <a:bodyPr wrap="square" lIns="0" rIns="0" tIns="0" bIns="0" anchor="t">
            <a:noAutofit/>
          </a:bodyPr>
          <a:lstStyle/>
          <a:p>
            <a:pPr algn="l"/>
            <a:r>
              <a:rPr sz="1300" b="0">
                <a:solidFill>
                  <a:srgbClr val="A3959B"/>
                </a:solidFill>
                <a:latin typeface="Segoe UI"/>
              </a:rPr>
              <a:t>Built this presentation: the idea, the team, our workflow and the design.</a:t>
            </a:r>
          </a:p>
        </p:txBody>
      </p:sp>
      <p:sp>
        <p:nvSpPr>
          <p:cNvPr id="33" name="Rounded Rectangle 32"/>
          <p:cNvSpPr/>
          <p:nvPr/>
        </p:nvSpPr>
        <p:spPr>
          <a:xfrm>
            <a:off x="548640" y="5596128"/>
            <a:ext cx="11094415" cy="566928"/>
          </a:xfrm>
          <a:prstGeom prst="roundRect">
            <a:avLst>
              <a:gd name="adj" fmla="val 19354"/>
            </a:avLst>
          </a:prstGeom>
          <a:solidFill>
            <a:srgbClr val="2A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22959" y="5596128"/>
            <a:ext cx="10545775" cy="566928"/>
          </a:xfrm>
          <a:prstGeom prst="rect">
            <a:avLst/>
          </a:prstGeom>
          <a:noFill/>
        </p:spPr>
        <p:txBody>
          <a:bodyPr wrap="square" lIns="0" rIns="0" tIns="0" bIns="0" anchor="ctr">
            <a:noAutofit/>
          </a:bodyPr>
          <a:lstStyle/>
          <a:p>
            <a:pPr algn="l"/>
            <a:r>
              <a:rPr sz="1400" b="0">
                <a:solidFill>
                  <a:srgbClr val="C7B9BF"/>
                </a:solidFill>
                <a:latin typeface="Segoe UI"/>
              </a:rPr>
              <a:t>Everyone commits to the same GitHub repository and keeps their own cards on Trello.</a:t>
            </a:r>
          </a:p>
        </p:txBody>
      </p:sp>
      <p:sp>
        <p:nvSpPr>
          <p:cNvPr id="35" name="TextBox 34"/>
          <p:cNvSpPr txBox="1"/>
          <p:nvPr/>
        </p:nvSpPr>
        <p:spPr>
          <a:xfrm>
            <a:off x="548640" y="6382512"/>
            <a:ext cx="5486400" cy="274320"/>
          </a:xfrm>
          <a:prstGeom prst="rect">
            <a:avLst/>
          </a:prstGeom>
          <a:noFill/>
        </p:spPr>
        <p:txBody>
          <a:bodyPr wrap="square" lIns="0" rIns="0" tIns="0" bIns="0" anchor="t">
            <a:noAutofit/>
          </a:bodyPr>
          <a:lstStyle/>
          <a:p>
            <a:pPr algn="l"/>
            <a:r>
              <a:rPr sz="1000" b="0">
                <a:solidFill>
                  <a:srgbClr val="A3959B"/>
                </a:solidFill>
                <a:latin typeface="Segoe UI"/>
              </a:rPr>
              <a:t>AlgoLearn  ·  SD Squad</a:t>
            </a:r>
          </a:p>
        </p:txBody>
      </p:sp>
      <p:sp>
        <p:nvSpPr>
          <p:cNvPr id="36" name="TextBox 35"/>
          <p:cNvSpPr txBox="1"/>
          <p:nvPr/>
        </p:nvSpPr>
        <p:spPr>
          <a:xfrm>
            <a:off x="10728655" y="6382512"/>
            <a:ext cx="914400" cy="274320"/>
          </a:xfrm>
          <a:prstGeom prst="rect">
            <a:avLst/>
          </a:prstGeom>
          <a:noFill/>
        </p:spPr>
        <p:txBody>
          <a:bodyPr wrap="square" lIns="0" rIns="0" tIns="0" bIns="0" anchor="t">
            <a:noAutofit/>
          </a:bodyPr>
          <a:lstStyle/>
          <a:p>
            <a:pPr algn="r"/>
            <a:r>
              <a:rPr sz="1000" b="0">
                <a:solidFill>
                  <a:srgbClr val="A3959B"/>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0E10"/>
        </a:solidFill>
        <a:effectLst/>
      </p:bgPr>
    </p:bg>
    <p:spTree>
      <p:nvGrpSpPr>
        <p:cNvPr id="1" name=""/>
        <p:cNvGrpSpPr/>
        <p:nvPr/>
      </p:nvGrpSpPr>
      <p:grpSpPr/>
      <p:sp>
        <p:nvSpPr>
          <p:cNvPr id="2" name="Title 1"/>
          <p:cNvSpPr>
            <a:spLocks noGrp="1"/>
          </p:cNvSpPr>
          <p:nvPr>
            <p:ph type="title"/>
          </p:nvPr>
        </p:nvSpPr>
        <p:spPr>
          <a:xfrm>
            <a:off x="548640" y="841248"/>
            <a:ext cx="11094415" cy="685800"/>
          </a:xfrm>
        </p:spPr>
        <p:txBody>
          <a:bodyPr wrap="square" lIns="0" rIns="0" tIns="0" bIns="0" anchor="t">
            <a:noAutofit/>
          </a:bodyPr>
          <a:lstStyle/>
          <a:p>
            <a:pPr algn="l"/>
            <a:r>
              <a:rPr sz="3000" b="1">
                <a:solidFill>
                  <a:srgbClr val="F5EDF0"/>
                </a:solidFill>
                <a:latin typeface="Segoe UI"/>
              </a:rPr>
              <a:t>Our GitHub repository</a:t>
            </a:r>
          </a:p>
        </p:txBody>
      </p:sp>
      <p:sp>
        <p:nvSpPr>
          <p:cNvPr id="3" name="Rounded Rectangle 2"/>
          <p:cNvSpPr/>
          <p:nvPr/>
        </p:nvSpPr>
        <p:spPr>
          <a:xfrm>
            <a:off x="548640" y="457200"/>
            <a:ext cx="914400" cy="292608"/>
          </a:xfrm>
          <a:prstGeom prst="roundRect">
            <a:avLst>
              <a:gd name="adj" fmla="val 50000"/>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457200"/>
            <a:ext cx="914400" cy="292608"/>
          </a:xfrm>
          <a:prstGeom prst="rect">
            <a:avLst/>
          </a:prstGeom>
          <a:noFill/>
        </p:spPr>
        <p:txBody>
          <a:bodyPr wrap="square" lIns="0" rIns="0" tIns="0" bIns="0" anchor="ctr">
            <a:noAutofit/>
          </a:bodyPr>
          <a:lstStyle/>
          <a:p>
            <a:pPr algn="ctr"/>
            <a:r>
              <a:rPr sz="1100" b="1">
                <a:solidFill>
                  <a:srgbClr val="F48AAA"/>
                </a:solidFill>
                <a:latin typeface="Segoe UI"/>
              </a:rPr>
              <a:t>Workflow</a:t>
            </a:r>
          </a:p>
        </p:txBody>
      </p:sp>
      <p:sp>
        <p:nvSpPr>
          <p:cNvPr id="5" name="Rounded Rectangle 4"/>
          <p:cNvSpPr/>
          <p:nvPr/>
        </p:nvSpPr>
        <p:spPr>
          <a:xfrm>
            <a:off x="548639" y="1728216"/>
            <a:ext cx="6601968" cy="4107412"/>
          </a:xfrm>
          <a:prstGeom prst="roundRect">
            <a:avLst>
              <a:gd name="adj" fmla="val 2671"/>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raw-github-repo.jpg"/>
          <p:cNvPicPr>
            <a:picLocks noChangeAspect="1"/>
          </p:cNvPicPr>
          <p:nvPr/>
        </p:nvPicPr>
        <p:blipFill>
          <a:blip r:embed="rId2"/>
          <a:srcRect l="17219" t="12752" r="18048" b="3356"/>
          <a:stretch>
            <a:fillRect/>
          </a:stretch>
        </p:blipFill>
        <p:spPr>
          <a:xfrm>
            <a:off x="603503" y="1783080"/>
            <a:ext cx="6492240" cy="3997684"/>
          </a:xfrm>
          <a:prstGeom prst="rect">
            <a:avLst/>
          </a:prstGeom>
        </p:spPr>
      </p:pic>
      <p:sp>
        <p:nvSpPr>
          <p:cNvPr id="7" name="Rounded Rectangle 6"/>
          <p:cNvSpPr/>
          <p:nvPr/>
        </p:nvSpPr>
        <p:spPr>
          <a:xfrm>
            <a:off x="7534655" y="1728216"/>
            <a:ext cx="4163263" cy="1334653"/>
          </a:xfrm>
          <a:prstGeom prst="roundRect">
            <a:avLst>
              <a:gd name="adj" fmla="val 8221"/>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raw-github-prs.jpg"/>
          <p:cNvPicPr>
            <a:picLocks noChangeAspect="1"/>
          </p:cNvPicPr>
          <p:nvPr/>
        </p:nvPicPr>
        <p:blipFill>
          <a:blip r:embed="rId3"/>
          <a:srcRect l="24107" t="24430" r="11735" b="34765"/>
          <a:stretch>
            <a:fillRect/>
          </a:stretch>
        </p:blipFill>
        <p:spPr>
          <a:xfrm>
            <a:off x="7589519" y="1783080"/>
            <a:ext cx="4053535" cy="1224925"/>
          </a:xfrm>
          <a:prstGeom prst="rect">
            <a:avLst/>
          </a:prstGeom>
        </p:spPr>
      </p:pic>
      <p:sp>
        <p:nvSpPr>
          <p:cNvPr id="9" name="TextBox 8"/>
          <p:cNvSpPr txBox="1"/>
          <p:nvPr/>
        </p:nvSpPr>
        <p:spPr>
          <a:xfrm>
            <a:off x="7589519" y="3145165"/>
            <a:ext cx="4053535" cy="274320"/>
          </a:xfrm>
          <a:prstGeom prst="rect">
            <a:avLst/>
          </a:prstGeom>
          <a:noFill/>
        </p:spPr>
        <p:txBody>
          <a:bodyPr wrap="square" lIns="0" rIns="0" tIns="0" bIns="0" anchor="t">
            <a:noAutofit/>
          </a:bodyPr>
          <a:lstStyle/>
          <a:p>
            <a:pPr algn="l"/>
            <a:r>
              <a:rPr sz="1100" b="0">
                <a:solidFill>
                  <a:srgbClr val="A3959B"/>
                </a:solidFill>
                <a:latin typeface="Segoe UI"/>
              </a:rPr>
              <a:t>Every pull request was reviewed and approved before merging.</a:t>
            </a:r>
          </a:p>
        </p:txBody>
      </p:sp>
      <p:sp>
        <p:nvSpPr>
          <p:cNvPr id="10" name="Rounded Rectangle 9"/>
          <p:cNvSpPr/>
          <p:nvPr/>
        </p:nvSpPr>
        <p:spPr>
          <a:xfrm>
            <a:off x="7589519" y="3520440"/>
            <a:ext cx="4053535" cy="1188720"/>
          </a:xfrm>
          <a:prstGeom prst="roundRect">
            <a:avLst>
              <a:gd name="adj" fmla="val 9230"/>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818119" y="3520440"/>
            <a:ext cx="822960" cy="1188720"/>
          </a:xfrm>
          <a:prstGeom prst="rect">
            <a:avLst/>
          </a:prstGeom>
          <a:noFill/>
        </p:spPr>
        <p:txBody>
          <a:bodyPr wrap="square" lIns="0" rIns="0" tIns="0" bIns="0" anchor="ctr">
            <a:noAutofit/>
          </a:bodyPr>
          <a:lstStyle/>
          <a:p>
            <a:pPr algn="l"/>
            <a:r>
              <a:rPr sz="3600" b="1">
                <a:solidFill>
                  <a:srgbClr val="F48AAA"/>
                </a:solidFill>
                <a:latin typeface="Segoe UI"/>
              </a:rPr>
              <a:t>4</a:t>
            </a:r>
          </a:p>
        </p:txBody>
      </p:sp>
      <p:sp>
        <p:nvSpPr>
          <p:cNvPr id="12" name="TextBox 11"/>
          <p:cNvSpPr txBox="1"/>
          <p:nvPr/>
        </p:nvSpPr>
        <p:spPr>
          <a:xfrm>
            <a:off x="8595359" y="3639312"/>
            <a:ext cx="2864815" cy="365760"/>
          </a:xfrm>
          <a:prstGeom prst="rect">
            <a:avLst/>
          </a:prstGeom>
          <a:noFill/>
        </p:spPr>
        <p:txBody>
          <a:bodyPr wrap="square" lIns="0" rIns="0" tIns="0" bIns="0" anchor="t">
            <a:noAutofit/>
          </a:bodyPr>
          <a:lstStyle/>
          <a:p>
            <a:pPr algn="l"/>
            <a:r>
              <a:rPr sz="1500" b="1">
                <a:solidFill>
                  <a:srgbClr val="F5EDF0"/>
                </a:solidFill>
                <a:latin typeface="Segoe UI"/>
              </a:rPr>
              <a:t>contributors</a:t>
            </a:r>
          </a:p>
        </p:txBody>
      </p:sp>
      <p:sp>
        <p:nvSpPr>
          <p:cNvPr id="13" name="TextBox 12"/>
          <p:cNvSpPr txBox="1"/>
          <p:nvPr/>
        </p:nvSpPr>
        <p:spPr>
          <a:xfrm>
            <a:off x="8595359" y="4005072"/>
            <a:ext cx="2864815" cy="594360"/>
          </a:xfrm>
          <a:prstGeom prst="rect">
            <a:avLst/>
          </a:prstGeom>
          <a:noFill/>
        </p:spPr>
        <p:txBody>
          <a:bodyPr wrap="square" lIns="0" rIns="0" tIns="0" bIns="0" anchor="t">
            <a:noAutofit/>
          </a:bodyPr>
          <a:lstStyle/>
          <a:p>
            <a:pPr algn="l"/>
            <a:r>
              <a:rPr sz="1200" b="0">
                <a:solidFill>
                  <a:srgbClr val="A3959B"/>
                </a:solidFill>
                <a:latin typeface="Segoe UI"/>
              </a:rPr>
              <a:t>Toumani, Solaiman, Youssef and Feryel all commit to the same repository.</a:t>
            </a:r>
          </a:p>
        </p:txBody>
      </p:sp>
      <p:sp>
        <p:nvSpPr>
          <p:cNvPr id="14" name="TextBox 13"/>
          <p:cNvSpPr txBox="1"/>
          <p:nvPr/>
        </p:nvSpPr>
        <p:spPr>
          <a:xfrm>
            <a:off x="7589519" y="4937760"/>
            <a:ext cx="4053535" cy="274320"/>
          </a:xfrm>
          <a:prstGeom prst="rect">
            <a:avLst/>
          </a:prstGeom>
          <a:noFill/>
        </p:spPr>
        <p:txBody>
          <a:bodyPr wrap="square" lIns="0" rIns="0" tIns="0" bIns="0" anchor="t">
            <a:noAutofit/>
          </a:bodyPr>
          <a:lstStyle/>
          <a:p>
            <a:pPr algn="l"/>
            <a:r>
              <a:rPr sz="1200" b="0">
                <a:solidFill>
                  <a:srgbClr val="A3959B"/>
                </a:solidFill>
                <a:latin typeface="Segoe UI"/>
              </a:rPr>
              <a:t>How every change gets in</a:t>
            </a:r>
          </a:p>
        </p:txBody>
      </p:sp>
      <p:sp>
        <p:nvSpPr>
          <p:cNvPr id="15" name="Rounded Rectangle 14"/>
          <p:cNvSpPr/>
          <p:nvPr/>
        </p:nvSpPr>
        <p:spPr>
          <a:xfrm>
            <a:off x="7589519" y="5285232"/>
            <a:ext cx="722376" cy="310896"/>
          </a:xfrm>
          <a:prstGeom prst="roundRect">
            <a:avLst>
              <a:gd name="adj" fmla="val 50000"/>
            </a:avLst>
          </a:prstGeom>
          <a:solidFill>
            <a:srgbClr val="2A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589519" y="5285232"/>
            <a:ext cx="722376" cy="310896"/>
          </a:xfrm>
          <a:prstGeom prst="rect">
            <a:avLst/>
          </a:prstGeom>
          <a:noFill/>
        </p:spPr>
        <p:txBody>
          <a:bodyPr wrap="square" lIns="0" rIns="0" tIns="0" bIns="0" anchor="ctr">
            <a:noAutofit/>
          </a:bodyPr>
          <a:lstStyle/>
          <a:p>
            <a:pPr algn="ctr"/>
            <a:r>
              <a:rPr sz="1100" b="1">
                <a:solidFill>
                  <a:srgbClr val="F5EDF0"/>
                </a:solidFill>
                <a:latin typeface="Segoe UI"/>
              </a:rPr>
              <a:t>Branch</a:t>
            </a:r>
          </a:p>
        </p:txBody>
      </p:sp>
      <p:sp>
        <p:nvSpPr>
          <p:cNvPr id="17" name="TextBox 16"/>
          <p:cNvSpPr txBox="1"/>
          <p:nvPr/>
        </p:nvSpPr>
        <p:spPr>
          <a:xfrm>
            <a:off x="8311896" y="5285232"/>
            <a:ext cx="219456" cy="310896"/>
          </a:xfrm>
          <a:prstGeom prst="rect">
            <a:avLst/>
          </a:prstGeom>
          <a:noFill/>
        </p:spPr>
        <p:txBody>
          <a:bodyPr wrap="square" lIns="0" rIns="0" tIns="0" bIns="0" anchor="ctr">
            <a:noAutofit/>
          </a:bodyPr>
          <a:lstStyle/>
          <a:p>
            <a:pPr algn="ctr"/>
            <a:r>
              <a:rPr sz="1400" b="1">
                <a:solidFill>
                  <a:srgbClr val="C23A62"/>
                </a:solidFill>
                <a:latin typeface="Segoe UI"/>
              </a:rPr>
              <a:t>›</a:t>
            </a:r>
          </a:p>
        </p:txBody>
      </p:sp>
      <p:sp>
        <p:nvSpPr>
          <p:cNvPr id="18" name="Rounded Rectangle 17"/>
          <p:cNvSpPr/>
          <p:nvPr/>
        </p:nvSpPr>
        <p:spPr>
          <a:xfrm>
            <a:off x="8531352" y="5285232"/>
            <a:ext cx="1188720" cy="310896"/>
          </a:xfrm>
          <a:prstGeom prst="roundRect">
            <a:avLst>
              <a:gd name="adj" fmla="val 50000"/>
            </a:avLst>
          </a:prstGeom>
          <a:solidFill>
            <a:srgbClr val="2A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531352" y="5285232"/>
            <a:ext cx="1188720" cy="310896"/>
          </a:xfrm>
          <a:prstGeom prst="rect">
            <a:avLst/>
          </a:prstGeom>
          <a:noFill/>
        </p:spPr>
        <p:txBody>
          <a:bodyPr wrap="square" lIns="0" rIns="0" tIns="0" bIns="0" anchor="ctr">
            <a:noAutofit/>
          </a:bodyPr>
          <a:lstStyle/>
          <a:p>
            <a:pPr algn="ctr"/>
            <a:r>
              <a:rPr sz="1100" b="1">
                <a:solidFill>
                  <a:srgbClr val="F5EDF0"/>
                </a:solidFill>
                <a:latin typeface="Segoe UI"/>
              </a:rPr>
              <a:t>Pull request</a:t>
            </a:r>
          </a:p>
        </p:txBody>
      </p:sp>
      <p:sp>
        <p:nvSpPr>
          <p:cNvPr id="20" name="TextBox 19"/>
          <p:cNvSpPr txBox="1"/>
          <p:nvPr/>
        </p:nvSpPr>
        <p:spPr>
          <a:xfrm>
            <a:off x="9720072" y="5285232"/>
            <a:ext cx="219456" cy="310896"/>
          </a:xfrm>
          <a:prstGeom prst="rect">
            <a:avLst/>
          </a:prstGeom>
          <a:noFill/>
        </p:spPr>
        <p:txBody>
          <a:bodyPr wrap="square" lIns="0" rIns="0" tIns="0" bIns="0" anchor="ctr">
            <a:noAutofit/>
          </a:bodyPr>
          <a:lstStyle/>
          <a:p>
            <a:pPr algn="ctr"/>
            <a:r>
              <a:rPr sz="1400" b="1">
                <a:solidFill>
                  <a:srgbClr val="C23A62"/>
                </a:solidFill>
                <a:latin typeface="Segoe UI"/>
              </a:rPr>
              <a:t>›</a:t>
            </a:r>
          </a:p>
        </p:txBody>
      </p:sp>
      <p:sp>
        <p:nvSpPr>
          <p:cNvPr id="21" name="Rounded Rectangle 20"/>
          <p:cNvSpPr/>
          <p:nvPr/>
        </p:nvSpPr>
        <p:spPr>
          <a:xfrm>
            <a:off x="9939528" y="5285232"/>
            <a:ext cx="722376" cy="310896"/>
          </a:xfrm>
          <a:prstGeom prst="roundRect">
            <a:avLst>
              <a:gd name="adj" fmla="val 50000"/>
            </a:avLst>
          </a:prstGeom>
          <a:solidFill>
            <a:srgbClr val="2A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939528" y="5285232"/>
            <a:ext cx="722376" cy="310896"/>
          </a:xfrm>
          <a:prstGeom prst="rect">
            <a:avLst/>
          </a:prstGeom>
          <a:noFill/>
        </p:spPr>
        <p:txBody>
          <a:bodyPr wrap="square" lIns="0" rIns="0" tIns="0" bIns="0" anchor="ctr">
            <a:noAutofit/>
          </a:bodyPr>
          <a:lstStyle/>
          <a:p>
            <a:pPr algn="ctr"/>
            <a:r>
              <a:rPr sz="1100" b="1">
                <a:solidFill>
                  <a:srgbClr val="F5EDF0"/>
                </a:solidFill>
                <a:latin typeface="Segoe UI"/>
              </a:rPr>
              <a:t>Review</a:t>
            </a:r>
          </a:p>
        </p:txBody>
      </p:sp>
      <p:sp>
        <p:nvSpPr>
          <p:cNvPr id="23" name="TextBox 22"/>
          <p:cNvSpPr txBox="1"/>
          <p:nvPr/>
        </p:nvSpPr>
        <p:spPr>
          <a:xfrm>
            <a:off x="10661904" y="5285232"/>
            <a:ext cx="219456" cy="310896"/>
          </a:xfrm>
          <a:prstGeom prst="rect">
            <a:avLst/>
          </a:prstGeom>
          <a:noFill/>
        </p:spPr>
        <p:txBody>
          <a:bodyPr wrap="square" lIns="0" rIns="0" tIns="0" bIns="0" anchor="ctr">
            <a:noAutofit/>
          </a:bodyPr>
          <a:lstStyle/>
          <a:p>
            <a:pPr algn="ctr"/>
            <a:r>
              <a:rPr sz="1400" b="1">
                <a:solidFill>
                  <a:srgbClr val="C23A62"/>
                </a:solidFill>
                <a:latin typeface="Segoe UI"/>
              </a:rPr>
              <a:t>›</a:t>
            </a:r>
          </a:p>
        </p:txBody>
      </p:sp>
      <p:sp>
        <p:nvSpPr>
          <p:cNvPr id="24" name="Rounded Rectangle 23"/>
          <p:cNvSpPr/>
          <p:nvPr/>
        </p:nvSpPr>
        <p:spPr>
          <a:xfrm>
            <a:off x="10881360" y="5285232"/>
            <a:ext cx="644652" cy="310896"/>
          </a:xfrm>
          <a:prstGeom prst="roundRect">
            <a:avLst>
              <a:gd name="adj" fmla="val 50000"/>
            </a:avLst>
          </a:prstGeom>
          <a:solidFill>
            <a:srgbClr val="2A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881360" y="5285232"/>
            <a:ext cx="644652" cy="310896"/>
          </a:xfrm>
          <a:prstGeom prst="rect">
            <a:avLst/>
          </a:prstGeom>
          <a:noFill/>
        </p:spPr>
        <p:txBody>
          <a:bodyPr wrap="square" lIns="0" rIns="0" tIns="0" bIns="0" anchor="ctr">
            <a:noAutofit/>
          </a:bodyPr>
          <a:lstStyle/>
          <a:p>
            <a:pPr algn="ctr"/>
            <a:r>
              <a:rPr sz="1100" b="1">
                <a:solidFill>
                  <a:srgbClr val="F5EDF0"/>
                </a:solidFill>
                <a:latin typeface="Segoe UI"/>
              </a:rPr>
              <a:t>Merge</a:t>
            </a:r>
          </a:p>
        </p:txBody>
      </p:sp>
      <p:sp>
        <p:nvSpPr>
          <p:cNvPr id="26" name="TextBox 25"/>
          <p:cNvSpPr txBox="1"/>
          <p:nvPr/>
        </p:nvSpPr>
        <p:spPr>
          <a:xfrm>
            <a:off x="548640" y="6382512"/>
            <a:ext cx="5486400" cy="274320"/>
          </a:xfrm>
          <a:prstGeom prst="rect">
            <a:avLst/>
          </a:prstGeom>
          <a:noFill/>
        </p:spPr>
        <p:txBody>
          <a:bodyPr wrap="square" lIns="0" rIns="0" tIns="0" bIns="0" anchor="t">
            <a:noAutofit/>
          </a:bodyPr>
          <a:lstStyle/>
          <a:p>
            <a:pPr algn="l"/>
            <a:r>
              <a:rPr sz="1000" b="0">
                <a:solidFill>
                  <a:srgbClr val="A3959B"/>
                </a:solidFill>
                <a:latin typeface="Segoe UI"/>
              </a:rPr>
              <a:t>AlgoLearn  ·  SD Squad</a:t>
            </a:r>
          </a:p>
        </p:txBody>
      </p:sp>
      <p:sp>
        <p:nvSpPr>
          <p:cNvPr id="27" name="TextBox 26"/>
          <p:cNvSpPr txBox="1"/>
          <p:nvPr/>
        </p:nvSpPr>
        <p:spPr>
          <a:xfrm>
            <a:off x="10728655" y="6382512"/>
            <a:ext cx="914400" cy="274320"/>
          </a:xfrm>
          <a:prstGeom prst="rect">
            <a:avLst/>
          </a:prstGeom>
          <a:noFill/>
        </p:spPr>
        <p:txBody>
          <a:bodyPr wrap="square" lIns="0" rIns="0" tIns="0" bIns="0" anchor="t">
            <a:noAutofit/>
          </a:bodyPr>
          <a:lstStyle/>
          <a:p>
            <a:pPr algn="r"/>
            <a:r>
              <a:rPr sz="1000" b="0">
                <a:solidFill>
                  <a:srgbClr val="A3959B"/>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0E10"/>
        </a:solidFill>
        <a:effectLst/>
      </p:bgPr>
    </p:bg>
    <p:spTree>
      <p:nvGrpSpPr>
        <p:cNvPr id="1" name=""/>
        <p:cNvGrpSpPr/>
        <p:nvPr/>
      </p:nvGrpSpPr>
      <p:grpSpPr/>
      <p:sp>
        <p:nvSpPr>
          <p:cNvPr id="2" name="Title 1"/>
          <p:cNvSpPr>
            <a:spLocks noGrp="1"/>
          </p:cNvSpPr>
          <p:nvPr>
            <p:ph type="title"/>
          </p:nvPr>
        </p:nvSpPr>
        <p:spPr>
          <a:xfrm>
            <a:off x="548640" y="841248"/>
            <a:ext cx="11094415" cy="685800"/>
          </a:xfrm>
        </p:spPr>
        <p:txBody>
          <a:bodyPr wrap="square" lIns="0" rIns="0" tIns="0" bIns="0" anchor="t">
            <a:noAutofit/>
          </a:bodyPr>
          <a:lstStyle/>
          <a:p>
            <a:pPr algn="l"/>
            <a:r>
              <a:rPr sz="3000" b="1">
                <a:solidFill>
                  <a:srgbClr val="F5EDF0"/>
                </a:solidFill>
                <a:latin typeface="Segoe UI"/>
              </a:rPr>
              <a:t>Our Trello board</a:t>
            </a:r>
          </a:p>
        </p:txBody>
      </p:sp>
      <p:sp>
        <p:nvSpPr>
          <p:cNvPr id="3" name="Rounded Rectangle 2"/>
          <p:cNvSpPr/>
          <p:nvPr/>
        </p:nvSpPr>
        <p:spPr>
          <a:xfrm>
            <a:off x="548640" y="457200"/>
            <a:ext cx="914400" cy="292608"/>
          </a:xfrm>
          <a:prstGeom prst="roundRect">
            <a:avLst>
              <a:gd name="adj" fmla="val 50000"/>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457200"/>
            <a:ext cx="914400" cy="292608"/>
          </a:xfrm>
          <a:prstGeom prst="rect">
            <a:avLst/>
          </a:prstGeom>
          <a:noFill/>
        </p:spPr>
        <p:txBody>
          <a:bodyPr wrap="square" lIns="0" rIns="0" tIns="0" bIns="0" anchor="ctr">
            <a:noAutofit/>
          </a:bodyPr>
          <a:lstStyle/>
          <a:p>
            <a:pPr algn="ctr"/>
            <a:r>
              <a:rPr sz="1100" b="1">
                <a:solidFill>
                  <a:srgbClr val="F48AAA"/>
                </a:solidFill>
                <a:latin typeface="Segoe UI"/>
              </a:rPr>
              <a:t>Workflow</a:t>
            </a:r>
          </a:p>
        </p:txBody>
      </p:sp>
      <p:sp>
        <p:nvSpPr>
          <p:cNvPr id="5" name="Rounded Rectangle 4"/>
          <p:cNvSpPr/>
          <p:nvPr/>
        </p:nvSpPr>
        <p:spPr>
          <a:xfrm>
            <a:off x="548639" y="1728216"/>
            <a:ext cx="6419088" cy="4411564"/>
          </a:xfrm>
          <a:prstGeom prst="roundRect">
            <a:avLst>
              <a:gd name="adj" fmla="val 2487"/>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raw-trello.jpg"/>
          <p:cNvPicPr>
            <a:picLocks noChangeAspect="1"/>
          </p:cNvPicPr>
          <p:nvPr/>
        </p:nvPicPr>
        <p:blipFill>
          <a:blip r:embed="rId2"/>
          <a:srcRect l="28125" t="7534" r="16016" b="12329"/>
          <a:stretch>
            <a:fillRect/>
          </a:stretch>
        </p:blipFill>
        <p:spPr>
          <a:xfrm>
            <a:off x="603503" y="1783080"/>
            <a:ext cx="6309360" cy="4301836"/>
          </a:xfrm>
          <a:prstGeom prst="rect">
            <a:avLst/>
          </a:prstGeom>
        </p:spPr>
      </p:pic>
      <p:sp>
        <p:nvSpPr>
          <p:cNvPr id="7" name="TextBox 6"/>
          <p:cNvSpPr txBox="1"/>
          <p:nvPr/>
        </p:nvSpPr>
        <p:spPr>
          <a:xfrm>
            <a:off x="7406640" y="1737360"/>
            <a:ext cx="4236415" cy="822960"/>
          </a:xfrm>
          <a:prstGeom prst="rect">
            <a:avLst/>
          </a:prstGeom>
          <a:noFill/>
        </p:spPr>
        <p:txBody>
          <a:bodyPr wrap="square" lIns="0" rIns="0" tIns="0" bIns="0" anchor="t">
            <a:noAutofit/>
          </a:bodyPr>
          <a:lstStyle/>
          <a:p>
            <a:pPr algn="l"/>
            <a:r>
              <a:rPr sz="1500" b="0">
                <a:solidFill>
                  <a:srgbClr val="C7B9BF"/>
                </a:solidFill>
                <a:latin typeface="Segoe UI"/>
              </a:rPr>
              <a:t>Every member creates their own cards and moves them from To Do to Done as they work.</a:t>
            </a:r>
          </a:p>
        </p:txBody>
      </p:sp>
      <p:sp>
        <p:nvSpPr>
          <p:cNvPr id="8" name="Rounded Rectangle 7"/>
          <p:cNvSpPr/>
          <p:nvPr/>
        </p:nvSpPr>
        <p:spPr>
          <a:xfrm>
            <a:off x="7406640" y="2788920"/>
            <a:ext cx="4236415" cy="932688"/>
          </a:xfrm>
          <a:prstGeom prst="roundRect">
            <a:avLst>
              <a:gd name="adj" fmla="val 11764"/>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607808" y="2971800"/>
            <a:ext cx="566928" cy="566928"/>
          </a:xfrm>
          <a:prstGeom prst="roundRect">
            <a:avLst>
              <a:gd name="adj" fmla="val 19354"/>
            </a:avLst>
          </a:prstGeom>
          <a:solidFill>
            <a:srgbClr val="2A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799831" y="3163824"/>
            <a:ext cx="182880" cy="182880"/>
          </a:xfrm>
          <a:prstGeom prst="ellipse">
            <a:avLst/>
          </a:prstGeom>
          <a:solidFill>
            <a:srgbClr val="A395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366760" y="2916936"/>
            <a:ext cx="3093415" cy="329184"/>
          </a:xfrm>
          <a:prstGeom prst="rect">
            <a:avLst/>
          </a:prstGeom>
          <a:noFill/>
        </p:spPr>
        <p:txBody>
          <a:bodyPr wrap="square" lIns="0" rIns="0" tIns="0" bIns="0" anchor="t">
            <a:noAutofit/>
          </a:bodyPr>
          <a:lstStyle/>
          <a:p>
            <a:pPr algn="l"/>
            <a:r>
              <a:rPr sz="1500" b="1">
                <a:solidFill>
                  <a:srgbClr val="F5EDF0"/>
                </a:solidFill>
                <a:latin typeface="Segoe UI"/>
              </a:rPr>
              <a:t>To Do</a:t>
            </a:r>
          </a:p>
        </p:txBody>
      </p:sp>
      <p:sp>
        <p:nvSpPr>
          <p:cNvPr id="12" name="TextBox 11"/>
          <p:cNvSpPr txBox="1"/>
          <p:nvPr/>
        </p:nvSpPr>
        <p:spPr>
          <a:xfrm>
            <a:off x="8366760" y="3246120"/>
            <a:ext cx="3093415" cy="411480"/>
          </a:xfrm>
          <a:prstGeom prst="rect">
            <a:avLst/>
          </a:prstGeom>
          <a:noFill/>
        </p:spPr>
        <p:txBody>
          <a:bodyPr wrap="square" lIns="0" rIns="0" tIns="0" bIns="0" anchor="t">
            <a:noAutofit/>
          </a:bodyPr>
          <a:lstStyle/>
          <a:p>
            <a:pPr algn="l"/>
            <a:r>
              <a:rPr sz="1200" b="0">
                <a:solidFill>
                  <a:srgbClr val="A3959B"/>
                </a:solidFill>
                <a:latin typeface="Segoe UI"/>
              </a:rPr>
              <a:t>Tasks planned but not started yet</a:t>
            </a:r>
          </a:p>
        </p:txBody>
      </p:sp>
      <p:sp>
        <p:nvSpPr>
          <p:cNvPr id="13" name="Rounded Rectangle 12"/>
          <p:cNvSpPr/>
          <p:nvPr/>
        </p:nvSpPr>
        <p:spPr>
          <a:xfrm>
            <a:off x="7406640" y="3886200"/>
            <a:ext cx="4236415" cy="932688"/>
          </a:xfrm>
          <a:prstGeom prst="roundRect">
            <a:avLst>
              <a:gd name="adj" fmla="val 11764"/>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7607808" y="4069080"/>
            <a:ext cx="566928" cy="566928"/>
          </a:xfrm>
          <a:prstGeom prst="roundRect">
            <a:avLst>
              <a:gd name="adj" fmla="val 19354"/>
            </a:avLst>
          </a:prstGeom>
          <a:solidFill>
            <a:srgbClr val="382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99831" y="4261104"/>
            <a:ext cx="182880" cy="182880"/>
          </a:xfrm>
          <a:prstGeom prst="ellipse">
            <a:avLst/>
          </a:prstGeom>
          <a:solidFill>
            <a:srgbClr val="E3A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366760" y="4014215"/>
            <a:ext cx="3093415" cy="329184"/>
          </a:xfrm>
          <a:prstGeom prst="rect">
            <a:avLst/>
          </a:prstGeom>
          <a:noFill/>
        </p:spPr>
        <p:txBody>
          <a:bodyPr wrap="square" lIns="0" rIns="0" tIns="0" bIns="0" anchor="t">
            <a:noAutofit/>
          </a:bodyPr>
          <a:lstStyle/>
          <a:p>
            <a:pPr algn="l"/>
            <a:r>
              <a:rPr sz="1500" b="1">
                <a:solidFill>
                  <a:srgbClr val="F5EDF0"/>
                </a:solidFill>
                <a:latin typeface="Segoe UI"/>
              </a:rPr>
              <a:t>Doing</a:t>
            </a:r>
          </a:p>
        </p:txBody>
      </p:sp>
      <p:sp>
        <p:nvSpPr>
          <p:cNvPr id="17" name="TextBox 16"/>
          <p:cNvSpPr txBox="1"/>
          <p:nvPr/>
        </p:nvSpPr>
        <p:spPr>
          <a:xfrm>
            <a:off x="8366760" y="4343400"/>
            <a:ext cx="3093415" cy="411480"/>
          </a:xfrm>
          <a:prstGeom prst="rect">
            <a:avLst/>
          </a:prstGeom>
          <a:noFill/>
        </p:spPr>
        <p:txBody>
          <a:bodyPr wrap="square" lIns="0" rIns="0" tIns="0" bIns="0" anchor="t">
            <a:noAutofit/>
          </a:bodyPr>
          <a:lstStyle/>
          <a:p>
            <a:pPr algn="l"/>
            <a:r>
              <a:rPr sz="1200" b="0">
                <a:solidFill>
                  <a:srgbClr val="A3959B"/>
                </a:solidFill>
                <a:latin typeface="Segoe UI"/>
              </a:rPr>
              <a:t>What each member is working on right now</a:t>
            </a:r>
          </a:p>
        </p:txBody>
      </p:sp>
      <p:sp>
        <p:nvSpPr>
          <p:cNvPr id="18" name="Rounded Rectangle 17"/>
          <p:cNvSpPr/>
          <p:nvPr/>
        </p:nvSpPr>
        <p:spPr>
          <a:xfrm>
            <a:off x="7406640" y="4983479"/>
            <a:ext cx="4236415" cy="932688"/>
          </a:xfrm>
          <a:prstGeom prst="roundRect">
            <a:avLst>
              <a:gd name="adj" fmla="val 11764"/>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7607808" y="5166359"/>
            <a:ext cx="566928" cy="566928"/>
          </a:xfrm>
          <a:prstGeom prst="roundRect">
            <a:avLst>
              <a:gd name="adj" fmla="val 19354"/>
            </a:avLst>
          </a:prstGeom>
          <a:solidFill>
            <a:srgbClr val="173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799831" y="5358383"/>
            <a:ext cx="182880" cy="182880"/>
          </a:xfrm>
          <a:prstGeom prst="ellipse">
            <a:avLst/>
          </a:prstGeom>
          <a:solidFill>
            <a:srgbClr val="4CC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66760" y="5111495"/>
            <a:ext cx="3093415" cy="329184"/>
          </a:xfrm>
          <a:prstGeom prst="rect">
            <a:avLst/>
          </a:prstGeom>
          <a:noFill/>
        </p:spPr>
        <p:txBody>
          <a:bodyPr wrap="square" lIns="0" rIns="0" tIns="0" bIns="0" anchor="t">
            <a:noAutofit/>
          </a:bodyPr>
          <a:lstStyle/>
          <a:p>
            <a:pPr algn="l"/>
            <a:r>
              <a:rPr sz="1500" b="1">
                <a:solidFill>
                  <a:srgbClr val="F5EDF0"/>
                </a:solidFill>
                <a:latin typeface="Segoe UI"/>
              </a:rPr>
              <a:t>Done</a:t>
            </a:r>
          </a:p>
        </p:txBody>
      </p:sp>
      <p:sp>
        <p:nvSpPr>
          <p:cNvPr id="22" name="TextBox 21"/>
          <p:cNvSpPr txBox="1"/>
          <p:nvPr/>
        </p:nvSpPr>
        <p:spPr>
          <a:xfrm>
            <a:off x="8366760" y="5440679"/>
            <a:ext cx="3093415" cy="411480"/>
          </a:xfrm>
          <a:prstGeom prst="rect">
            <a:avLst/>
          </a:prstGeom>
          <a:noFill/>
        </p:spPr>
        <p:txBody>
          <a:bodyPr wrap="square" lIns="0" rIns="0" tIns="0" bIns="0" anchor="t">
            <a:noAutofit/>
          </a:bodyPr>
          <a:lstStyle/>
          <a:p>
            <a:pPr algn="l"/>
            <a:r>
              <a:rPr sz="1200" b="0">
                <a:solidFill>
                  <a:srgbClr val="A3959B"/>
                </a:solidFill>
                <a:latin typeface="Segoe UI"/>
              </a:rPr>
              <a:t>Finished tasks, kept as a record of our work</a:t>
            </a:r>
          </a:p>
        </p:txBody>
      </p:sp>
      <p:sp>
        <p:nvSpPr>
          <p:cNvPr id="23" name="TextBox 22"/>
          <p:cNvSpPr txBox="1"/>
          <p:nvPr/>
        </p:nvSpPr>
        <p:spPr>
          <a:xfrm>
            <a:off x="548640" y="6382512"/>
            <a:ext cx="5486400" cy="274320"/>
          </a:xfrm>
          <a:prstGeom prst="rect">
            <a:avLst/>
          </a:prstGeom>
          <a:noFill/>
        </p:spPr>
        <p:txBody>
          <a:bodyPr wrap="square" lIns="0" rIns="0" tIns="0" bIns="0" anchor="t">
            <a:noAutofit/>
          </a:bodyPr>
          <a:lstStyle/>
          <a:p>
            <a:pPr algn="l"/>
            <a:r>
              <a:rPr sz="1000" b="0">
                <a:solidFill>
                  <a:srgbClr val="A3959B"/>
                </a:solidFill>
                <a:latin typeface="Segoe UI"/>
              </a:rPr>
              <a:t>AlgoLearn  ·  SD Squad</a:t>
            </a:r>
          </a:p>
        </p:txBody>
      </p:sp>
      <p:sp>
        <p:nvSpPr>
          <p:cNvPr id="24" name="TextBox 23"/>
          <p:cNvSpPr txBox="1"/>
          <p:nvPr/>
        </p:nvSpPr>
        <p:spPr>
          <a:xfrm>
            <a:off x="10728655" y="6382512"/>
            <a:ext cx="914400" cy="274320"/>
          </a:xfrm>
          <a:prstGeom prst="rect">
            <a:avLst/>
          </a:prstGeom>
          <a:noFill/>
        </p:spPr>
        <p:txBody>
          <a:bodyPr wrap="square" lIns="0" rIns="0" tIns="0" bIns="0" anchor="t">
            <a:noAutofit/>
          </a:bodyPr>
          <a:lstStyle/>
          <a:p>
            <a:pPr algn="r"/>
            <a:r>
              <a:rPr sz="1000" b="0">
                <a:solidFill>
                  <a:srgbClr val="A3959B"/>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0E10"/>
        </a:solidFill>
        <a:effectLst/>
      </p:bgPr>
    </p:bg>
    <p:spTree>
      <p:nvGrpSpPr>
        <p:cNvPr id="1" name=""/>
        <p:cNvGrpSpPr/>
        <p:nvPr/>
      </p:nvGrpSpPr>
      <p:grpSpPr/>
      <p:sp>
        <p:nvSpPr>
          <p:cNvPr id="2" name="Title 1"/>
          <p:cNvSpPr>
            <a:spLocks noGrp="1"/>
          </p:cNvSpPr>
          <p:nvPr>
            <p:ph type="title"/>
          </p:nvPr>
        </p:nvSpPr>
        <p:spPr>
          <a:xfrm>
            <a:off x="548640" y="2514600"/>
            <a:ext cx="5669280" cy="1463040"/>
          </a:xfrm>
        </p:spPr>
        <p:txBody>
          <a:bodyPr wrap="square" lIns="0" rIns="0" tIns="0" bIns="0" anchor="t">
            <a:noAutofit/>
          </a:bodyPr>
          <a:lstStyle/>
          <a:p>
            <a:pPr algn="l"/>
            <a:r>
              <a:rPr sz="4000" b="1">
                <a:solidFill>
                  <a:srgbClr val="F5EDF0"/>
                </a:solidFill>
                <a:latin typeface="Segoe UI"/>
              </a:rPr>
              <a:t>From idea to clickable prototype</a:t>
            </a:r>
          </a:p>
        </p:txBody>
      </p:sp>
      <p:sp>
        <p:nvSpPr>
          <p:cNvPr id="3" name="Rectangle 2"/>
          <p:cNvSpPr/>
          <p:nvPr/>
        </p:nvSpPr>
        <p:spPr>
          <a:xfrm>
            <a:off x="0" y="0"/>
            <a:ext cx="12191695" cy="6858000"/>
          </a:xfrm>
          <a:prstGeom prst="rect">
            <a:avLst/>
          </a:prstGeom>
          <a:solidFill>
            <a:srgbClr val="1D17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2011680"/>
            <a:ext cx="716557" cy="329184"/>
          </a:xfrm>
          <a:prstGeom prst="roundRect">
            <a:avLst>
              <a:gd name="adj" fmla="val 50000"/>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2011680"/>
            <a:ext cx="716557" cy="329184"/>
          </a:xfrm>
          <a:prstGeom prst="rect">
            <a:avLst/>
          </a:prstGeom>
          <a:noFill/>
        </p:spPr>
        <p:txBody>
          <a:bodyPr wrap="square" lIns="0" rIns="0" tIns="0" bIns="0" anchor="ctr">
            <a:noAutofit/>
          </a:bodyPr>
          <a:lstStyle/>
          <a:p>
            <a:pPr algn="ctr"/>
            <a:r>
              <a:rPr sz="1200" b="1">
                <a:solidFill>
                  <a:srgbClr val="F48AAA"/>
                </a:solidFill>
                <a:latin typeface="Segoe UI"/>
              </a:rPr>
              <a:t>Figma</a:t>
            </a:r>
          </a:p>
        </p:txBody>
      </p:sp>
      <p:sp>
        <p:nvSpPr>
          <p:cNvPr id="6" name="TextBox 5"/>
          <p:cNvSpPr txBox="1"/>
          <p:nvPr/>
        </p:nvSpPr>
        <p:spPr>
          <a:xfrm>
            <a:off x="548640" y="4069080"/>
            <a:ext cx="5120640" cy="914400"/>
          </a:xfrm>
          <a:prstGeom prst="rect">
            <a:avLst/>
          </a:prstGeom>
          <a:noFill/>
        </p:spPr>
        <p:txBody>
          <a:bodyPr wrap="square" lIns="0" rIns="0" tIns="0" bIns="0" anchor="t">
            <a:noAutofit/>
          </a:bodyPr>
          <a:lstStyle/>
          <a:p>
            <a:pPr algn="l"/>
            <a:r>
              <a:rPr sz="1700" b="0">
                <a:solidFill>
                  <a:srgbClr val="C7B9BF"/>
                </a:solidFill>
                <a:latin typeface="Segoe UI"/>
              </a:rPr>
              <a:t>16 screens, one design system and a prototype you can click through like the real app.</a:t>
            </a:r>
          </a:p>
        </p:txBody>
      </p:sp>
      <p:sp>
        <p:nvSpPr>
          <p:cNvPr id="7" name="Rounded Rectangle 6"/>
          <p:cNvSpPr/>
          <p:nvPr/>
        </p:nvSpPr>
        <p:spPr>
          <a:xfrm>
            <a:off x="6894576" y="630936"/>
            <a:ext cx="4315968" cy="2738627"/>
          </a:xfrm>
          <a:prstGeom prst="roundRect">
            <a:avLst>
              <a:gd name="adj" fmla="val 4006"/>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04-int-level.png"/>
          <p:cNvPicPr>
            <a:picLocks noChangeAspect="1"/>
          </p:cNvPicPr>
          <p:nvPr/>
        </p:nvPicPr>
        <p:blipFill>
          <a:blip r:embed="rId2"/>
          <a:srcRect/>
          <a:stretch>
            <a:fillRect/>
          </a:stretch>
        </p:blipFill>
        <p:spPr>
          <a:xfrm>
            <a:off x="6949440" y="685800"/>
            <a:ext cx="4206240" cy="2628899"/>
          </a:xfrm>
          <a:prstGeom prst="rect">
            <a:avLst/>
          </a:prstGeom>
        </p:spPr>
      </p:pic>
      <p:sp>
        <p:nvSpPr>
          <p:cNvPr id="9" name="Rounded Rectangle 8"/>
          <p:cNvSpPr/>
          <p:nvPr/>
        </p:nvSpPr>
        <p:spPr>
          <a:xfrm>
            <a:off x="7580375" y="2276856"/>
            <a:ext cx="4133088" cy="2624328"/>
          </a:xfrm>
          <a:prstGeom prst="roundRect">
            <a:avLst>
              <a:gd name="adj" fmla="val 4181"/>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06-int-quiz.png"/>
          <p:cNvPicPr>
            <a:picLocks noChangeAspect="1"/>
          </p:cNvPicPr>
          <p:nvPr/>
        </p:nvPicPr>
        <p:blipFill>
          <a:blip r:embed="rId3"/>
          <a:srcRect/>
          <a:stretch>
            <a:fillRect/>
          </a:stretch>
        </p:blipFill>
        <p:spPr>
          <a:xfrm>
            <a:off x="7635240" y="2331720"/>
            <a:ext cx="4023360" cy="2514600"/>
          </a:xfrm>
          <a:prstGeom prst="rect">
            <a:avLst/>
          </a:prstGeom>
        </p:spPr>
      </p:pic>
      <p:sp>
        <p:nvSpPr>
          <p:cNvPr id="11" name="Rounded Rectangle 10"/>
          <p:cNvSpPr/>
          <p:nvPr/>
        </p:nvSpPr>
        <p:spPr>
          <a:xfrm>
            <a:off x="6437376" y="3831336"/>
            <a:ext cx="4315968" cy="2738627"/>
          </a:xfrm>
          <a:prstGeom prst="roundRect">
            <a:avLst>
              <a:gd name="adj" fmla="val 4006"/>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09-visualizer.png"/>
          <p:cNvPicPr>
            <a:picLocks noChangeAspect="1"/>
          </p:cNvPicPr>
          <p:nvPr/>
        </p:nvPicPr>
        <p:blipFill>
          <a:blip r:embed="rId4"/>
          <a:srcRect/>
          <a:stretch>
            <a:fillRect/>
          </a:stretch>
        </p:blipFill>
        <p:spPr>
          <a:xfrm>
            <a:off x="6492240" y="3886200"/>
            <a:ext cx="4206240" cy="262889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0E10"/>
        </a:solidFill>
        <a:effectLst/>
      </p:bgPr>
    </p:bg>
    <p:spTree>
      <p:nvGrpSpPr>
        <p:cNvPr id="1" name=""/>
        <p:cNvGrpSpPr/>
        <p:nvPr/>
      </p:nvGrpSpPr>
      <p:grpSpPr/>
      <p:sp>
        <p:nvSpPr>
          <p:cNvPr id="2" name="Title 1"/>
          <p:cNvSpPr>
            <a:spLocks noGrp="1"/>
          </p:cNvSpPr>
          <p:nvPr>
            <p:ph type="title"/>
          </p:nvPr>
        </p:nvSpPr>
        <p:spPr>
          <a:xfrm>
            <a:off x="548640" y="841248"/>
            <a:ext cx="11094415" cy="685800"/>
          </a:xfrm>
        </p:spPr>
        <p:txBody>
          <a:bodyPr wrap="square" lIns="0" rIns="0" tIns="0" bIns="0" anchor="t">
            <a:noAutofit/>
          </a:bodyPr>
          <a:lstStyle/>
          <a:p>
            <a:pPr algn="l"/>
            <a:r>
              <a:rPr sz="3000" b="1">
                <a:solidFill>
                  <a:srgbClr val="F5EDF0"/>
                </a:solidFill>
                <a:latin typeface="Segoe UI"/>
              </a:rPr>
              <a:t>One design system behind every screen</a:t>
            </a:r>
          </a:p>
        </p:txBody>
      </p:sp>
      <p:sp>
        <p:nvSpPr>
          <p:cNvPr id="3" name="Rounded Rectangle 2"/>
          <p:cNvSpPr/>
          <p:nvPr/>
        </p:nvSpPr>
        <p:spPr>
          <a:xfrm>
            <a:off x="548640" y="457200"/>
            <a:ext cx="1303020" cy="292608"/>
          </a:xfrm>
          <a:prstGeom prst="roundRect">
            <a:avLst>
              <a:gd name="adj" fmla="val 50000"/>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457200"/>
            <a:ext cx="1303020" cy="292608"/>
          </a:xfrm>
          <a:prstGeom prst="rect">
            <a:avLst/>
          </a:prstGeom>
          <a:noFill/>
        </p:spPr>
        <p:txBody>
          <a:bodyPr wrap="square" lIns="0" rIns="0" tIns="0" bIns="0" anchor="ctr">
            <a:noAutofit/>
          </a:bodyPr>
          <a:lstStyle/>
          <a:p>
            <a:pPr algn="ctr"/>
            <a:r>
              <a:rPr sz="1100" b="1">
                <a:solidFill>
                  <a:srgbClr val="F48AAA"/>
                </a:solidFill>
                <a:latin typeface="Segoe UI"/>
              </a:rPr>
              <a:t>Design system</a:t>
            </a:r>
          </a:p>
        </p:txBody>
      </p:sp>
      <p:sp>
        <p:nvSpPr>
          <p:cNvPr id="5" name="Rounded Rectangle 4"/>
          <p:cNvSpPr/>
          <p:nvPr/>
        </p:nvSpPr>
        <p:spPr>
          <a:xfrm>
            <a:off x="548640" y="1783080"/>
            <a:ext cx="3433070" cy="4343400"/>
          </a:xfrm>
          <a:prstGeom prst="roundRect">
            <a:avLst>
              <a:gd name="adj" fmla="val 3196"/>
            </a:avLst>
          </a:prstGeom>
          <a:solidFill>
            <a:srgbClr val="120E10"/>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raw-components.jpg"/>
          <p:cNvPicPr>
            <a:picLocks noChangeAspect="1"/>
          </p:cNvPicPr>
          <p:nvPr/>
        </p:nvPicPr>
        <p:blipFill>
          <a:blip r:embed="rId2"/>
          <a:srcRect l="24057" t="3807" r="24147" b="3553"/>
          <a:stretch>
            <a:fillRect/>
          </a:stretch>
        </p:blipFill>
        <p:spPr>
          <a:xfrm>
            <a:off x="548640" y="1783080"/>
            <a:ext cx="3433070" cy="4343400"/>
          </a:xfrm>
          <a:prstGeom prst="rect">
            <a:avLst/>
          </a:prstGeom>
        </p:spPr>
      </p:pic>
      <p:sp>
        <p:nvSpPr>
          <p:cNvPr id="7" name="Rounded Rectangle 6"/>
          <p:cNvSpPr/>
          <p:nvPr/>
        </p:nvSpPr>
        <p:spPr>
          <a:xfrm>
            <a:off x="4256030" y="1783080"/>
            <a:ext cx="2324636" cy="4343400"/>
          </a:xfrm>
          <a:prstGeom prst="roundRect">
            <a:avLst>
              <a:gd name="adj" fmla="val 4720"/>
            </a:avLst>
          </a:prstGeom>
          <a:solidFill>
            <a:srgbClr val="120E10"/>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raw-foundations.jpg"/>
          <p:cNvPicPr>
            <a:picLocks noChangeAspect="1"/>
          </p:cNvPicPr>
          <p:nvPr/>
        </p:nvPicPr>
        <p:blipFill>
          <a:blip r:embed="rId3"/>
          <a:srcRect l="33034" t="5076" r="32855" b="4822"/>
          <a:stretch>
            <a:fillRect/>
          </a:stretch>
        </p:blipFill>
        <p:spPr>
          <a:xfrm>
            <a:off x="4256030" y="1783080"/>
            <a:ext cx="2324636" cy="4343400"/>
          </a:xfrm>
          <a:prstGeom prst="rect">
            <a:avLst/>
          </a:prstGeom>
        </p:spPr>
      </p:pic>
      <p:sp>
        <p:nvSpPr>
          <p:cNvPr id="9" name="Oval 8"/>
          <p:cNvSpPr/>
          <p:nvPr/>
        </p:nvSpPr>
        <p:spPr>
          <a:xfrm>
            <a:off x="7037867" y="1901952"/>
            <a:ext cx="201168" cy="201168"/>
          </a:xfrm>
          <a:prstGeom prst="ellipse">
            <a:avLst/>
          </a:prstGeom>
          <a:solidFill>
            <a:srgbClr val="C2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03627" y="1828800"/>
            <a:ext cx="4239427" cy="365760"/>
          </a:xfrm>
          <a:prstGeom prst="rect">
            <a:avLst/>
          </a:prstGeom>
          <a:noFill/>
        </p:spPr>
        <p:txBody>
          <a:bodyPr wrap="square" lIns="0" rIns="0" tIns="0" bIns="0" anchor="t">
            <a:noAutofit/>
          </a:bodyPr>
          <a:lstStyle/>
          <a:p>
            <a:pPr algn="l"/>
            <a:r>
              <a:rPr sz="1800" b="1">
                <a:solidFill>
                  <a:srgbClr val="F5EDF0"/>
                </a:solidFill>
                <a:latin typeface="Segoe UI"/>
              </a:rPr>
              <a:t>Colours</a:t>
            </a:r>
          </a:p>
        </p:txBody>
      </p:sp>
      <p:sp>
        <p:nvSpPr>
          <p:cNvPr id="11" name="TextBox 10"/>
          <p:cNvSpPr txBox="1"/>
          <p:nvPr/>
        </p:nvSpPr>
        <p:spPr>
          <a:xfrm>
            <a:off x="7403627" y="2240280"/>
            <a:ext cx="4239427" cy="960120"/>
          </a:xfrm>
          <a:prstGeom prst="rect">
            <a:avLst/>
          </a:prstGeom>
          <a:noFill/>
        </p:spPr>
        <p:txBody>
          <a:bodyPr wrap="square" lIns="0" rIns="0" tIns="0" bIns="0" anchor="t">
            <a:noAutofit/>
          </a:bodyPr>
          <a:lstStyle/>
          <a:p>
            <a:pPr algn="l"/>
            <a:r>
              <a:rPr sz="1300" b="0">
                <a:solidFill>
                  <a:srgbClr val="A3959B"/>
                </a:solidFill>
                <a:latin typeface="Segoe UI"/>
              </a:rPr>
              <a:t>One bordeaux brand colour on dark surfaces, plus a colour for each level: green, amber and purple.</a:t>
            </a:r>
          </a:p>
        </p:txBody>
      </p:sp>
      <p:sp>
        <p:nvSpPr>
          <p:cNvPr id="12" name="Oval 11"/>
          <p:cNvSpPr/>
          <p:nvPr/>
        </p:nvSpPr>
        <p:spPr>
          <a:xfrm>
            <a:off x="7037867" y="3319272"/>
            <a:ext cx="201168" cy="201168"/>
          </a:xfrm>
          <a:prstGeom prst="ellipse">
            <a:avLst/>
          </a:prstGeom>
          <a:solidFill>
            <a:srgbClr val="F48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403627" y="3246120"/>
            <a:ext cx="4239427" cy="365760"/>
          </a:xfrm>
          <a:prstGeom prst="rect">
            <a:avLst/>
          </a:prstGeom>
          <a:noFill/>
        </p:spPr>
        <p:txBody>
          <a:bodyPr wrap="square" lIns="0" rIns="0" tIns="0" bIns="0" anchor="t">
            <a:noAutofit/>
          </a:bodyPr>
          <a:lstStyle/>
          <a:p>
            <a:pPr algn="l"/>
            <a:r>
              <a:rPr sz="1800" b="1">
                <a:solidFill>
                  <a:srgbClr val="F5EDF0"/>
                </a:solidFill>
                <a:latin typeface="Segoe UI"/>
              </a:rPr>
              <a:t>Type</a:t>
            </a:r>
          </a:p>
        </p:txBody>
      </p:sp>
      <p:sp>
        <p:nvSpPr>
          <p:cNvPr id="14" name="TextBox 13"/>
          <p:cNvSpPr txBox="1"/>
          <p:nvPr/>
        </p:nvSpPr>
        <p:spPr>
          <a:xfrm>
            <a:off x="7403627" y="3657600"/>
            <a:ext cx="4239427" cy="960120"/>
          </a:xfrm>
          <a:prstGeom prst="rect">
            <a:avLst/>
          </a:prstGeom>
          <a:noFill/>
        </p:spPr>
        <p:txBody>
          <a:bodyPr wrap="square" lIns="0" rIns="0" tIns="0" bIns="0" anchor="t">
            <a:noAutofit/>
          </a:bodyPr>
          <a:lstStyle/>
          <a:p>
            <a:pPr algn="l"/>
            <a:r>
              <a:rPr sz="1300" b="0">
                <a:solidFill>
                  <a:srgbClr val="A3959B"/>
                </a:solidFill>
                <a:latin typeface="Segoe UI"/>
              </a:rPr>
              <a:t>One font (Inter) in 9 text styles, from 34 pt titles down to 13 pt code.</a:t>
            </a:r>
          </a:p>
        </p:txBody>
      </p:sp>
      <p:sp>
        <p:nvSpPr>
          <p:cNvPr id="15" name="Oval 14"/>
          <p:cNvSpPr/>
          <p:nvPr/>
        </p:nvSpPr>
        <p:spPr>
          <a:xfrm>
            <a:off x="7037867" y="4736592"/>
            <a:ext cx="201168" cy="201168"/>
          </a:xfrm>
          <a:prstGeom prst="ellipse">
            <a:avLst/>
          </a:prstGeom>
          <a:solidFill>
            <a:srgbClr val="4CC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03627" y="4663440"/>
            <a:ext cx="4239427" cy="365760"/>
          </a:xfrm>
          <a:prstGeom prst="rect">
            <a:avLst/>
          </a:prstGeom>
          <a:noFill/>
        </p:spPr>
        <p:txBody>
          <a:bodyPr wrap="square" lIns="0" rIns="0" tIns="0" bIns="0" anchor="t">
            <a:noAutofit/>
          </a:bodyPr>
          <a:lstStyle/>
          <a:p>
            <a:pPr algn="l"/>
            <a:r>
              <a:rPr sz="1800" b="1">
                <a:solidFill>
                  <a:srgbClr val="F5EDF0"/>
                </a:solidFill>
                <a:latin typeface="Segoe UI"/>
              </a:rPr>
              <a:t>Components</a:t>
            </a:r>
          </a:p>
        </p:txBody>
      </p:sp>
      <p:sp>
        <p:nvSpPr>
          <p:cNvPr id="17" name="TextBox 16"/>
          <p:cNvSpPr txBox="1"/>
          <p:nvPr/>
        </p:nvSpPr>
        <p:spPr>
          <a:xfrm>
            <a:off x="7403627" y="5074920"/>
            <a:ext cx="4239427" cy="960120"/>
          </a:xfrm>
          <a:prstGeom prst="rect">
            <a:avLst/>
          </a:prstGeom>
          <a:noFill/>
        </p:spPr>
        <p:txBody>
          <a:bodyPr wrap="square" lIns="0" rIns="0" tIns="0" bIns="0" anchor="t">
            <a:noAutofit/>
          </a:bodyPr>
          <a:lstStyle/>
          <a:p>
            <a:pPr algn="l"/>
            <a:r>
              <a:rPr sz="1300" b="0">
                <a:solidFill>
                  <a:srgbClr val="A3959B"/>
                </a:solidFill>
                <a:latin typeface="Segoe UI"/>
              </a:rPr>
              <a:t>Buttons, badges and answer options with states (hover, selected, correct, wrong), reused on every screen.</a:t>
            </a:r>
          </a:p>
        </p:txBody>
      </p:sp>
      <p:sp>
        <p:nvSpPr>
          <p:cNvPr id="18" name="TextBox 17"/>
          <p:cNvSpPr txBox="1"/>
          <p:nvPr/>
        </p:nvSpPr>
        <p:spPr>
          <a:xfrm>
            <a:off x="548640" y="6382512"/>
            <a:ext cx="5486400" cy="274320"/>
          </a:xfrm>
          <a:prstGeom prst="rect">
            <a:avLst/>
          </a:prstGeom>
          <a:noFill/>
        </p:spPr>
        <p:txBody>
          <a:bodyPr wrap="square" lIns="0" rIns="0" tIns="0" bIns="0" anchor="t">
            <a:noAutofit/>
          </a:bodyPr>
          <a:lstStyle/>
          <a:p>
            <a:pPr algn="l"/>
            <a:r>
              <a:rPr sz="1000" b="0">
                <a:solidFill>
                  <a:srgbClr val="A3959B"/>
                </a:solidFill>
                <a:latin typeface="Segoe UI"/>
              </a:rPr>
              <a:t>AlgoLearn  ·  SD Squad</a:t>
            </a:r>
          </a:p>
        </p:txBody>
      </p:sp>
      <p:sp>
        <p:nvSpPr>
          <p:cNvPr id="19" name="TextBox 18"/>
          <p:cNvSpPr txBox="1"/>
          <p:nvPr/>
        </p:nvSpPr>
        <p:spPr>
          <a:xfrm>
            <a:off x="10728655" y="6382512"/>
            <a:ext cx="914400" cy="274320"/>
          </a:xfrm>
          <a:prstGeom prst="rect">
            <a:avLst/>
          </a:prstGeom>
          <a:noFill/>
        </p:spPr>
        <p:txBody>
          <a:bodyPr wrap="square" lIns="0" rIns="0" tIns="0" bIns="0" anchor="t">
            <a:noAutofit/>
          </a:bodyPr>
          <a:lstStyle/>
          <a:p>
            <a:pPr algn="r"/>
            <a:r>
              <a:rPr sz="1000" b="0">
                <a:solidFill>
                  <a:srgbClr val="A3959B"/>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0E10"/>
        </a:solidFill>
        <a:effectLst/>
      </p:bgPr>
    </p:bg>
    <p:spTree>
      <p:nvGrpSpPr>
        <p:cNvPr id="1" name=""/>
        <p:cNvGrpSpPr/>
        <p:nvPr/>
      </p:nvGrpSpPr>
      <p:grpSpPr/>
      <p:sp>
        <p:nvSpPr>
          <p:cNvPr id="2" name="Title 1"/>
          <p:cNvSpPr>
            <a:spLocks noGrp="1"/>
          </p:cNvSpPr>
          <p:nvPr>
            <p:ph type="title"/>
          </p:nvPr>
        </p:nvSpPr>
        <p:spPr>
          <a:xfrm>
            <a:off x="548640" y="841248"/>
            <a:ext cx="11094415" cy="685800"/>
          </a:xfrm>
        </p:spPr>
        <p:txBody>
          <a:bodyPr wrap="square" lIns="0" rIns="0" tIns="0" bIns="0" anchor="t">
            <a:noAutofit/>
          </a:bodyPr>
          <a:lstStyle/>
          <a:p>
            <a:pPr algn="l"/>
            <a:r>
              <a:rPr sz="3000" b="1">
                <a:solidFill>
                  <a:srgbClr val="F5EDF0"/>
                </a:solidFill>
                <a:latin typeface="Segoe UI"/>
              </a:rPr>
              <a:t>How a student moves through the app</a:t>
            </a:r>
          </a:p>
        </p:txBody>
      </p:sp>
      <p:sp>
        <p:nvSpPr>
          <p:cNvPr id="3" name="Rounded Rectangle 2"/>
          <p:cNvSpPr/>
          <p:nvPr/>
        </p:nvSpPr>
        <p:spPr>
          <a:xfrm>
            <a:off x="548640" y="457200"/>
            <a:ext cx="992124" cy="292608"/>
          </a:xfrm>
          <a:prstGeom prst="roundRect">
            <a:avLst>
              <a:gd name="adj" fmla="val 50000"/>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457200"/>
            <a:ext cx="992124" cy="292608"/>
          </a:xfrm>
          <a:prstGeom prst="rect">
            <a:avLst/>
          </a:prstGeom>
          <a:noFill/>
        </p:spPr>
        <p:txBody>
          <a:bodyPr wrap="square" lIns="0" rIns="0" tIns="0" bIns="0" anchor="ctr">
            <a:noAutofit/>
          </a:bodyPr>
          <a:lstStyle/>
          <a:p>
            <a:pPr algn="ctr"/>
            <a:r>
              <a:rPr sz="1100" b="1">
                <a:solidFill>
                  <a:srgbClr val="F48AAA"/>
                </a:solidFill>
                <a:latin typeface="Segoe UI"/>
              </a:rPr>
              <a:t>User flow</a:t>
            </a:r>
          </a:p>
        </p:txBody>
      </p:sp>
      <p:sp>
        <p:nvSpPr>
          <p:cNvPr id="5" name="Rounded Rectangle 4"/>
          <p:cNvSpPr/>
          <p:nvPr/>
        </p:nvSpPr>
        <p:spPr>
          <a:xfrm>
            <a:off x="493776" y="2002536"/>
            <a:ext cx="1755648" cy="1138428"/>
          </a:xfrm>
          <a:prstGeom prst="roundRect">
            <a:avLst>
              <a:gd name="adj" fmla="val 9638"/>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01-home.png"/>
          <p:cNvPicPr>
            <a:picLocks noChangeAspect="1"/>
          </p:cNvPicPr>
          <p:nvPr/>
        </p:nvPicPr>
        <p:blipFill>
          <a:blip r:embed="rId2"/>
          <a:srcRect/>
          <a:stretch>
            <a:fillRect/>
          </a:stretch>
        </p:blipFill>
        <p:spPr>
          <a:xfrm>
            <a:off x="548640" y="2057400"/>
            <a:ext cx="1645920" cy="1028700"/>
          </a:xfrm>
          <a:prstGeom prst="rect">
            <a:avLst/>
          </a:prstGeom>
        </p:spPr>
      </p:pic>
      <p:sp>
        <p:nvSpPr>
          <p:cNvPr id="7" name="TextBox 6"/>
          <p:cNvSpPr txBox="1"/>
          <p:nvPr/>
        </p:nvSpPr>
        <p:spPr>
          <a:xfrm>
            <a:off x="548640" y="3268980"/>
            <a:ext cx="1645920" cy="347472"/>
          </a:xfrm>
          <a:prstGeom prst="rect">
            <a:avLst/>
          </a:prstGeom>
          <a:noFill/>
        </p:spPr>
        <p:txBody>
          <a:bodyPr wrap="square" lIns="0" rIns="0" tIns="0" bIns="0" anchor="t">
            <a:noAutofit/>
          </a:bodyPr>
          <a:lstStyle/>
          <a:p>
            <a:pPr algn="ctr"/>
            <a:r>
              <a:rPr sz="1500" b="1">
                <a:solidFill>
                  <a:srgbClr val="F5EDF0"/>
                </a:solidFill>
                <a:latin typeface="Segoe UI"/>
              </a:rPr>
              <a:t>Home</a:t>
            </a:r>
          </a:p>
        </p:txBody>
      </p:sp>
      <p:sp>
        <p:nvSpPr>
          <p:cNvPr id="8" name="TextBox 7"/>
          <p:cNvSpPr txBox="1"/>
          <p:nvPr/>
        </p:nvSpPr>
        <p:spPr>
          <a:xfrm>
            <a:off x="548640" y="3616452"/>
            <a:ext cx="1645920" cy="310896"/>
          </a:xfrm>
          <a:prstGeom prst="rect">
            <a:avLst/>
          </a:prstGeom>
          <a:noFill/>
        </p:spPr>
        <p:txBody>
          <a:bodyPr wrap="square" lIns="0" rIns="0" tIns="0" bIns="0" anchor="t">
            <a:noAutofit/>
          </a:bodyPr>
          <a:lstStyle/>
          <a:p>
            <a:pPr algn="ctr"/>
            <a:r>
              <a:rPr sz="1200" b="0">
                <a:solidFill>
                  <a:srgbClr val="A3959B"/>
                </a:solidFill>
                <a:latin typeface="Segoe UI"/>
              </a:rPr>
              <a:t>Pick a level</a:t>
            </a:r>
          </a:p>
        </p:txBody>
      </p:sp>
      <p:sp>
        <p:nvSpPr>
          <p:cNvPr id="9" name="TextBox 8"/>
          <p:cNvSpPr txBox="1"/>
          <p:nvPr/>
        </p:nvSpPr>
        <p:spPr>
          <a:xfrm>
            <a:off x="2194560" y="2297430"/>
            <a:ext cx="246888" cy="548640"/>
          </a:xfrm>
          <a:prstGeom prst="rect">
            <a:avLst/>
          </a:prstGeom>
          <a:noFill/>
        </p:spPr>
        <p:txBody>
          <a:bodyPr wrap="square" lIns="0" rIns="0" tIns="0" bIns="0" anchor="ctr">
            <a:noAutofit/>
          </a:bodyPr>
          <a:lstStyle/>
          <a:p>
            <a:pPr algn="ctr"/>
            <a:r>
              <a:rPr sz="2400" b="1">
                <a:solidFill>
                  <a:srgbClr val="C23A62"/>
                </a:solidFill>
                <a:latin typeface="Segoe UI"/>
              </a:rPr>
              <a:t>›</a:t>
            </a:r>
          </a:p>
        </p:txBody>
      </p:sp>
      <p:sp>
        <p:nvSpPr>
          <p:cNvPr id="10" name="Rounded Rectangle 9"/>
          <p:cNvSpPr/>
          <p:nvPr/>
        </p:nvSpPr>
        <p:spPr>
          <a:xfrm>
            <a:off x="2386584" y="2002536"/>
            <a:ext cx="1755648" cy="1138428"/>
          </a:xfrm>
          <a:prstGeom prst="roundRect">
            <a:avLst>
              <a:gd name="adj" fmla="val 9638"/>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02-easy-level.png"/>
          <p:cNvPicPr>
            <a:picLocks noChangeAspect="1"/>
          </p:cNvPicPr>
          <p:nvPr/>
        </p:nvPicPr>
        <p:blipFill>
          <a:blip r:embed="rId3"/>
          <a:srcRect/>
          <a:stretch>
            <a:fillRect/>
          </a:stretch>
        </p:blipFill>
        <p:spPr>
          <a:xfrm>
            <a:off x="2441448" y="2057400"/>
            <a:ext cx="1645920" cy="1028700"/>
          </a:xfrm>
          <a:prstGeom prst="rect">
            <a:avLst/>
          </a:prstGeom>
        </p:spPr>
      </p:pic>
      <p:sp>
        <p:nvSpPr>
          <p:cNvPr id="12" name="TextBox 11"/>
          <p:cNvSpPr txBox="1"/>
          <p:nvPr/>
        </p:nvSpPr>
        <p:spPr>
          <a:xfrm>
            <a:off x="2441448" y="3268980"/>
            <a:ext cx="1645920" cy="347472"/>
          </a:xfrm>
          <a:prstGeom prst="rect">
            <a:avLst/>
          </a:prstGeom>
          <a:noFill/>
        </p:spPr>
        <p:txBody>
          <a:bodyPr wrap="square" lIns="0" rIns="0" tIns="0" bIns="0" anchor="t">
            <a:noAutofit/>
          </a:bodyPr>
          <a:lstStyle/>
          <a:p>
            <a:pPr algn="ctr"/>
            <a:r>
              <a:rPr sz="1500" b="1">
                <a:solidFill>
                  <a:srgbClr val="F5EDF0"/>
                </a:solidFill>
                <a:latin typeface="Segoe UI"/>
              </a:rPr>
              <a:t>Level</a:t>
            </a:r>
          </a:p>
        </p:txBody>
      </p:sp>
      <p:sp>
        <p:nvSpPr>
          <p:cNvPr id="13" name="TextBox 12"/>
          <p:cNvSpPr txBox="1"/>
          <p:nvPr/>
        </p:nvSpPr>
        <p:spPr>
          <a:xfrm>
            <a:off x="2441448" y="3616452"/>
            <a:ext cx="1645920" cy="310896"/>
          </a:xfrm>
          <a:prstGeom prst="rect">
            <a:avLst/>
          </a:prstGeom>
          <a:noFill/>
        </p:spPr>
        <p:txBody>
          <a:bodyPr wrap="square" lIns="0" rIns="0" tIns="0" bIns="0" anchor="t">
            <a:noAutofit/>
          </a:bodyPr>
          <a:lstStyle/>
          <a:p>
            <a:pPr algn="ctr"/>
            <a:r>
              <a:rPr sz="1200" b="0">
                <a:solidFill>
                  <a:srgbClr val="A3959B"/>
                </a:solidFill>
                <a:latin typeface="Segoe UI"/>
              </a:rPr>
              <a:t>See the 3 lessons</a:t>
            </a:r>
          </a:p>
        </p:txBody>
      </p:sp>
      <p:sp>
        <p:nvSpPr>
          <p:cNvPr id="14" name="TextBox 13"/>
          <p:cNvSpPr txBox="1"/>
          <p:nvPr/>
        </p:nvSpPr>
        <p:spPr>
          <a:xfrm>
            <a:off x="4087368" y="2297430"/>
            <a:ext cx="246888" cy="548640"/>
          </a:xfrm>
          <a:prstGeom prst="rect">
            <a:avLst/>
          </a:prstGeom>
          <a:noFill/>
        </p:spPr>
        <p:txBody>
          <a:bodyPr wrap="square" lIns="0" rIns="0" tIns="0" bIns="0" anchor="ctr">
            <a:noAutofit/>
          </a:bodyPr>
          <a:lstStyle/>
          <a:p>
            <a:pPr algn="ctr"/>
            <a:r>
              <a:rPr sz="2400" b="1">
                <a:solidFill>
                  <a:srgbClr val="C23A62"/>
                </a:solidFill>
                <a:latin typeface="Segoe UI"/>
              </a:rPr>
              <a:t>›</a:t>
            </a:r>
          </a:p>
        </p:txBody>
      </p:sp>
      <p:sp>
        <p:nvSpPr>
          <p:cNvPr id="15" name="Rounded Rectangle 14"/>
          <p:cNvSpPr/>
          <p:nvPr/>
        </p:nvSpPr>
        <p:spPr>
          <a:xfrm>
            <a:off x="4279392" y="2002536"/>
            <a:ext cx="1755648" cy="1138428"/>
          </a:xfrm>
          <a:prstGeom prst="roundRect">
            <a:avLst>
              <a:gd name="adj" fmla="val 9638"/>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03-bubble.png"/>
          <p:cNvPicPr>
            <a:picLocks noChangeAspect="1"/>
          </p:cNvPicPr>
          <p:nvPr/>
        </p:nvPicPr>
        <p:blipFill>
          <a:blip r:embed="rId4"/>
          <a:srcRect/>
          <a:stretch>
            <a:fillRect/>
          </a:stretch>
        </p:blipFill>
        <p:spPr>
          <a:xfrm>
            <a:off x="4334256" y="2057400"/>
            <a:ext cx="1645920" cy="1028700"/>
          </a:xfrm>
          <a:prstGeom prst="rect">
            <a:avLst/>
          </a:prstGeom>
        </p:spPr>
      </p:pic>
      <p:sp>
        <p:nvSpPr>
          <p:cNvPr id="17" name="TextBox 16"/>
          <p:cNvSpPr txBox="1"/>
          <p:nvPr/>
        </p:nvSpPr>
        <p:spPr>
          <a:xfrm>
            <a:off x="4334256" y="3268980"/>
            <a:ext cx="1645920" cy="347472"/>
          </a:xfrm>
          <a:prstGeom prst="rect">
            <a:avLst/>
          </a:prstGeom>
          <a:noFill/>
        </p:spPr>
        <p:txBody>
          <a:bodyPr wrap="square" lIns="0" rIns="0" tIns="0" bIns="0" anchor="t">
            <a:noAutofit/>
          </a:bodyPr>
          <a:lstStyle/>
          <a:p>
            <a:pPr algn="ctr"/>
            <a:r>
              <a:rPr sz="1500" b="1">
                <a:solidFill>
                  <a:srgbClr val="F5EDF0"/>
                </a:solidFill>
                <a:latin typeface="Segoe UI"/>
              </a:rPr>
              <a:t>Lesson</a:t>
            </a:r>
          </a:p>
        </p:txBody>
      </p:sp>
      <p:sp>
        <p:nvSpPr>
          <p:cNvPr id="18" name="TextBox 17"/>
          <p:cNvSpPr txBox="1"/>
          <p:nvPr/>
        </p:nvSpPr>
        <p:spPr>
          <a:xfrm>
            <a:off x="4334256" y="3616452"/>
            <a:ext cx="1645920" cy="310896"/>
          </a:xfrm>
          <a:prstGeom prst="rect">
            <a:avLst/>
          </a:prstGeom>
          <a:noFill/>
        </p:spPr>
        <p:txBody>
          <a:bodyPr wrap="square" lIns="0" rIns="0" tIns="0" bIns="0" anchor="t">
            <a:noAutofit/>
          </a:bodyPr>
          <a:lstStyle/>
          <a:p>
            <a:pPr algn="ctr"/>
            <a:r>
              <a:rPr sz="1200" b="0">
                <a:solidFill>
                  <a:srgbClr val="A3959B"/>
                </a:solidFill>
                <a:latin typeface="Segoe UI"/>
              </a:rPr>
              <a:t>Read and watch</a:t>
            </a:r>
          </a:p>
        </p:txBody>
      </p:sp>
      <p:sp>
        <p:nvSpPr>
          <p:cNvPr id="19" name="TextBox 18"/>
          <p:cNvSpPr txBox="1"/>
          <p:nvPr/>
        </p:nvSpPr>
        <p:spPr>
          <a:xfrm>
            <a:off x="5980176" y="2297430"/>
            <a:ext cx="246888" cy="548640"/>
          </a:xfrm>
          <a:prstGeom prst="rect">
            <a:avLst/>
          </a:prstGeom>
          <a:noFill/>
        </p:spPr>
        <p:txBody>
          <a:bodyPr wrap="square" lIns="0" rIns="0" tIns="0" bIns="0" anchor="ctr">
            <a:noAutofit/>
          </a:bodyPr>
          <a:lstStyle/>
          <a:p>
            <a:pPr algn="ctr"/>
            <a:r>
              <a:rPr sz="2400" b="1">
                <a:solidFill>
                  <a:srgbClr val="C23A62"/>
                </a:solidFill>
                <a:latin typeface="Segoe UI"/>
              </a:rPr>
              <a:t>›</a:t>
            </a:r>
          </a:p>
        </p:txBody>
      </p:sp>
      <p:sp>
        <p:nvSpPr>
          <p:cNvPr id="20" name="Rounded Rectangle 19"/>
          <p:cNvSpPr/>
          <p:nvPr/>
        </p:nvSpPr>
        <p:spPr>
          <a:xfrm>
            <a:off x="6172200" y="2002536"/>
            <a:ext cx="1755648" cy="1138428"/>
          </a:xfrm>
          <a:prstGeom prst="roundRect">
            <a:avLst>
              <a:gd name="adj" fmla="val 9638"/>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06-int-quiz.png"/>
          <p:cNvPicPr>
            <a:picLocks noChangeAspect="1"/>
          </p:cNvPicPr>
          <p:nvPr/>
        </p:nvPicPr>
        <p:blipFill>
          <a:blip r:embed="rId5"/>
          <a:srcRect/>
          <a:stretch>
            <a:fillRect/>
          </a:stretch>
        </p:blipFill>
        <p:spPr>
          <a:xfrm>
            <a:off x="6227064" y="2057400"/>
            <a:ext cx="1645920" cy="1028700"/>
          </a:xfrm>
          <a:prstGeom prst="rect">
            <a:avLst/>
          </a:prstGeom>
        </p:spPr>
      </p:pic>
      <p:sp>
        <p:nvSpPr>
          <p:cNvPr id="22" name="TextBox 21"/>
          <p:cNvSpPr txBox="1"/>
          <p:nvPr/>
        </p:nvSpPr>
        <p:spPr>
          <a:xfrm>
            <a:off x="6227064" y="3268980"/>
            <a:ext cx="1645920" cy="347472"/>
          </a:xfrm>
          <a:prstGeom prst="rect">
            <a:avLst/>
          </a:prstGeom>
          <a:noFill/>
        </p:spPr>
        <p:txBody>
          <a:bodyPr wrap="square" lIns="0" rIns="0" tIns="0" bIns="0" anchor="t">
            <a:noAutofit/>
          </a:bodyPr>
          <a:lstStyle/>
          <a:p>
            <a:pPr algn="ctr"/>
            <a:r>
              <a:rPr sz="1500" b="1">
                <a:solidFill>
                  <a:srgbClr val="F5EDF0"/>
                </a:solidFill>
                <a:latin typeface="Segoe UI"/>
              </a:rPr>
              <a:t>Quiz</a:t>
            </a:r>
          </a:p>
        </p:txBody>
      </p:sp>
      <p:sp>
        <p:nvSpPr>
          <p:cNvPr id="23" name="TextBox 22"/>
          <p:cNvSpPr txBox="1"/>
          <p:nvPr/>
        </p:nvSpPr>
        <p:spPr>
          <a:xfrm>
            <a:off x="6227064" y="3616452"/>
            <a:ext cx="1645920" cy="310896"/>
          </a:xfrm>
          <a:prstGeom prst="rect">
            <a:avLst/>
          </a:prstGeom>
          <a:noFill/>
        </p:spPr>
        <p:txBody>
          <a:bodyPr wrap="square" lIns="0" rIns="0" tIns="0" bIns="0" anchor="t">
            <a:noAutofit/>
          </a:bodyPr>
          <a:lstStyle/>
          <a:p>
            <a:pPr algn="ctr"/>
            <a:r>
              <a:rPr sz="1200" b="0">
                <a:solidFill>
                  <a:srgbClr val="A3959B"/>
                </a:solidFill>
                <a:latin typeface="Segoe UI"/>
              </a:rPr>
              <a:t>Answer 5 questions</a:t>
            </a:r>
          </a:p>
        </p:txBody>
      </p:sp>
      <p:sp>
        <p:nvSpPr>
          <p:cNvPr id="24" name="TextBox 23"/>
          <p:cNvSpPr txBox="1"/>
          <p:nvPr/>
        </p:nvSpPr>
        <p:spPr>
          <a:xfrm>
            <a:off x="7872984" y="2297430"/>
            <a:ext cx="246888" cy="548640"/>
          </a:xfrm>
          <a:prstGeom prst="rect">
            <a:avLst/>
          </a:prstGeom>
          <a:noFill/>
        </p:spPr>
        <p:txBody>
          <a:bodyPr wrap="square" lIns="0" rIns="0" tIns="0" bIns="0" anchor="ctr">
            <a:noAutofit/>
          </a:bodyPr>
          <a:lstStyle/>
          <a:p>
            <a:pPr algn="ctr"/>
            <a:r>
              <a:rPr sz="2400" b="1">
                <a:solidFill>
                  <a:srgbClr val="C23A62"/>
                </a:solidFill>
                <a:latin typeface="Segoe UI"/>
              </a:rPr>
              <a:t>›</a:t>
            </a:r>
          </a:p>
        </p:txBody>
      </p:sp>
      <p:sp>
        <p:nvSpPr>
          <p:cNvPr id="25" name="Rounded Rectangle 24"/>
          <p:cNvSpPr/>
          <p:nvPr/>
        </p:nvSpPr>
        <p:spPr>
          <a:xfrm>
            <a:off x="8065008" y="2002536"/>
            <a:ext cx="1755648" cy="1138428"/>
          </a:xfrm>
          <a:prstGeom prst="roundRect">
            <a:avLst>
              <a:gd name="adj" fmla="val 9638"/>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07-int-feedback.png"/>
          <p:cNvPicPr>
            <a:picLocks noChangeAspect="1"/>
          </p:cNvPicPr>
          <p:nvPr/>
        </p:nvPicPr>
        <p:blipFill>
          <a:blip r:embed="rId6"/>
          <a:srcRect/>
          <a:stretch>
            <a:fillRect/>
          </a:stretch>
        </p:blipFill>
        <p:spPr>
          <a:xfrm>
            <a:off x="8119872" y="2057400"/>
            <a:ext cx="1645920" cy="1028700"/>
          </a:xfrm>
          <a:prstGeom prst="rect">
            <a:avLst/>
          </a:prstGeom>
        </p:spPr>
      </p:pic>
      <p:sp>
        <p:nvSpPr>
          <p:cNvPr id="27" name="TextBox 26"/>
          <p:cNvSpPr txBox="1"/>
          <p:nvPr/>
        </p:nvSpPr>
        <p:spPr>
          <a:xfrm>
            <a:off x="8119872" y="3268980"/>
            <a:ext cx="1645920" cy="347472"/>
          </a:xfrm>
          <a:prstGeom prst="rect">
            <a:avLst/>
          </a:prstGeom>
          <a:noFill/>
        </p:spPr>
        <p:txBody>
          <a:bodyPr wrap="square" lIns="0" rIns="0" tIns="0" bIns="0" anchor="t">
            <a:noAutofit/>
          </a:bodyPr>
          <a:lstStyle/>
          <a:p>
            <a:pPr algn="ctr"/>
            <a:r>
              <a:rPr sz="1500" b="1">
                <a:solidFill>
                  <a:srgbClr val="F5EDF0"/>
                </a:solidFill>
                <a:latin typeface="Segoe UI"/>
              </a:rPr>
              <a:t>Feedback</a:t>
            </a:r>
          </a:p>
        </p:txBody>
      </p:sp>
      <p:sp>
        <p:nvSpPr>
          <p:cNvPr id="28" name="TextBox 27"/>
          <p:cNvSpPr txBox="1"/>
          <p:nvPr/>
        </p:nvSpPr>
        <p:spPr>
          <a:xfrm>
            <a:off x="8119872" y="3616452"/>
            <a:ext cx="1645920" cy="310896"/>
          </a:xfrm>
          <a:prstGeom prst="rect">
            <a:avLst/>
          </a:prstGeom>
          <a:noFill/>
        </p:spPr>
        <p:txBody>
          <a:bodyPr wrap="square" lIns="0" rIns="0" tIns="0" bIns="0" anchor="t">
            <a:noAutofit/>
          </a:bodyPr>
          <a:lstStyle/>
          <a:p>
            <a:pPr algn="ctr"/>
            <a:r>
              <a:rPr sz="1200" b="0">
                <a:solidFill>
                  <a:srgbClr val="A3959B"/>
                </a:solidFill>
                <a:latin typeface="Segoe UI"/>
              </a:rPr>
              <a:t>Learn from mistakes</a:t>
            </a:r>
          </a:p>
        </p:txBody>
      </p:sp>
      <p:sp>
        <p:nvSpPr>
          <p:cNvPr id="29" name="TextBox 28"/>
          <p:cNvSpPr txBox="1"/>
          <p:nvPr/>
        </p:nvSpPr>
        <p:spPr>
          <a:xfrm>
            <a:off x="9765792" y="2297430"/>
            <a:ext cx="246888" cy="548640"/>
          </a:xfrm>
          <a:prstGeom prst="rect">
            <a:avLst/>
          </a:prstGeom>
          <a:noFill/>
        </p:spPr>
        <p:txBody>
          <a:bodyPr wrap="square" lIns="0" rIns="0" tIns="0" bIns="0" anchor="ctr">
            <a:noAutofit/>
          </a:bodyPr>
          <a:lstStyle/>
          <a:p>
            <a:pPr algn="ctr"/>
            <a:r>
              <a:rPr sz="2400" b="1">
                <a:solidFill>
                  <a:srgbClr val="C23A62"/>
                </a:solidFill>
                <a:latin typeface="Segoe UI"/>
              </a:rPr>
              <a:t>›</a:t>
            </a:r>
          </a:p>
        </p:txBody>
      </p:sp>
      <p:sp>
        <p:nvSpPr>
          <p:cNvPr id="30" name="Rounded Rectangle 29"/>
          <p:cNvSpPr/>
          <p:nvPr/>
        </p:nvSpPr>
        <p:spPr>
          <a:xfrm>
            <a:off x="9957816" y="2002536"/>
            <a:ext cx="1755648" cy="1138428"/>
          </a:xfrm>
          <a:prstGeom prst="roundRect">
            <a:avLst>
              <a:gd name="adj" fmla="val 9638"/>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08-easy-results.png"/>
          <p:cNvPicPr>
            <a:picLocks noChangeAspect="1"/>
          </p:cNvPicPr>
          <p:nvPr/>
        </p:nvPicPr>
        <p:blipFill>
          <a:blip r:embed="rId7"/>
          <a:srcRect/>
          <a:stretch>
            <a:fillRect/>
          </a:stretch>
        </p:blipFill>
        <p:spPr>
          <a:xfrm>
            <a:off x="10012680" y="2057400"/>
            <a:ext cx="1645920" cy="1028700"/>
          </a:xfrm>
          <a:prstGeom prst="rect">
            <a:avLst/>
          </a:prstGeom>
        </p:spPr>
      </p:pic>
      <p:sp>
        <p:nvSpPr>
          <p:cNvPr id="32" name="TextBox 31"/>
          <p:cNvSpPr txBox="1"/>
          <p:nvPr/>
        </p:nvSpPr>
        <p:spPr>
          <a:xfrm>
            <a:off x="10012680" y="3268980"/>
            <a:ext cx="1645920" cy="347472"/>
          </a:xfrm>
          <a:prstGeom prst="rect">
            <a:avLst/>
          </a:prstGeom>
          <a:noFill/>
        </p:spPr>
        <p:txBody>
          <a:bodyPr wrap="square" lIns="0" rIns="0" tIns="0" bIns="0" anchor="t">
            <a:noAutofit/>
          </a:bodyPr>
          <a:lstStyle/>
          <a:p>
            <a:pPr algn="ctr"/>
            <a:r>
              <a:rPr sz="1500" b="1">
                <a:solidFill>
                  <a:srgbClr val="F5EDF0"/>
                </a:solidFill>
                <a:latin typeface="Segoe UI"/>
              </a:rPr>
              <a:t>Results</a:t>
            </a:r>
          </a:p>
        </p:txBody>
      </p:sp>
      <p:sp>
        <p:nvSpPr>
          <p:cNvPr id="33" name="TextBox 32"/>
          <p:cNvSpPr txBox="1"/>
          <p:nvPr/>
        </p:nvSpPr>
        <p:spPr>
          <a:xfrm>
            <a:off x="10012680" y="3616452"/>
            <a:ext cx="1645920" cy="310896"/>
          </a:xfrm>
          <a:prstGeom prst="rect">
            <a:avLst/>
          </a:prstGeom>
          <a:noFill/>
        </p:spPr>
        <p:txBody>
          <a:bodyPr wrap="square" lIns="0" rIns="0" tIns="0" bIns="0" anchor="t">
            <a:noAutofit/>
          </a:bodyPr>
          <a:lstStyle/>
          <a:p>
            <a:pPr algn="ctr"/>
            <a:r>
              <a:rPr sz="1200" b="0">
                <a:solidFill>
                  <a:srgbClr val="A3959B"/>
                </a:solidFill>
                <a:latin typeface="Segoe UI"/>
              </a:rPr>
              <a:t>Next level unlocked</a:t>
            </a:r>
          </a:p>
        </p:txBody>
      </p:sp>
      <p:sp>
        <p:nvSpPr>
          <p:cNvPr id="34" name="Rounded Rectangle 33"/>
          <p:cNvSpPr/>
          <p:nvPr/>
        </p:nvSpPr>
        <p:spPr>
          <a:xfrm>
            <a:off x="548640" y="4526280"/>
            <a:ext cx="5440680" cy="1051560"/>
          </a:xfrm>
          <a:prstGeom prst="roundRect">
            <a:avLst>
              <a:gd name="adj" fmla="val 10434"/>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22959" y="4526280"/>
            <a:ext cx="4892040" cy="1051560"/>
          </a:xfrm>
          <a:prstGeom prst="rect">
            <a:avLst/>
          </a:prstGeom>
          <a:noFill/>
        </p:spPr>
        <p:txBody>
          <a:bodyPr wrap="square" lIns="0" rIns="0" tIns="0" bIns="0" anchor="ctr">
            <a:noAutofit/>
          </a:bodyPr>
          <a:lstStyle/>
          <a:p>
            <a:pPr algn="l"/>
            <a:r>
              <a:rPr sz="1400" b="1">
                <a:solidFill>
                  <a:srgbClr val="F48AAA"/>
                </a:solidFill>
                <a:latin typeface="Segoe UI"/>
              </a:rPr>
              <a:t>From any lesson  </a:t>
            </a:r>
            <a:r>
              <a:rPr sz="1400" b="0">
                <a:solidFill>
                  <a:srgbClr val="F5EDF0"/>
                </a:solidFill>
                <a:latin typeface="Segoe UI"/>
              </a:rPr>
              <a:t>“Watch it run” opens the sorting visualizer.</a:t>
            </a:r>
          </a:p>
        </p:txBody>
      </p:sp>
      <p:sp>
        <p:nvSpPr>
          <p:cNvPr id="36" name="Rounded Rectangle 35"/>
          <p:cNvSpPr/>
          <p:nvPr/>
        </p:nvSpPr>
        <p:spPr>
          <a:xfrm>
            <a:off x="6199631" y="4526280"/>
            <a:ext cx="5440680" cy="1051560"/>
          </a:xfrm>
          <a:prstGeom prst="roundRect">
            <a:avLst>
              <a:gd name="adj" fmla="val 10434"/>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73952" y="4526280"/>
            <a:ext cx="4892040" cy="1051560"/>
          </a:xfrm>
          <a:prstGeom prst="rect">
            <a:avLst/>
          </a:prstGeom>
          <a:noFill/>
        </p:spPr>
        <p:txBody>
          <a:bodyPr wrap="square" lIns="0" rIns="0" tIns="0" bIns="0" anchor="ctr">
            <a:noAutofit/>
          </a:bodyPr>
          <a:lstStyle/>
          <a:p>
            <a:pPr algn="l"/>
            <a:r>
              <a:rPr sz="1400" b="1">
                <a:solidFill>
                  <a:srgbClr val="F48AAA"/>
                </a:solidFill>
                <a:latin typeface="Segoe UI"/>
              </a:rPr>
              <a:t>Below 60%  </a:t>
            </a:r>
            <a:r>
              <a:rPr sz="1400" b="0">
                <a:solidFill>
                  <a:srgbClr val="F5EDF0"/>
                </a:solidFill>
                <a:latin typeface="Segoe UI"/>
              </a:rPr>
              <a:t>retake the quiz or go back to the lessons.</a:t>
            </a:r>
          </a:p>
        </p:txBody>
      </p:sp>
      <p:sp>
        <p:nvSpPr>
          <p:cNvPr id="38" name="TextBox 37"/>
          <p:cNvSpPr txBox="1"/>
          <p:nvPr/>
        </p:nvSpPr>
        <p:spPr>
          <a:xfrm>
            <a:off x="548640" y="6382512"/>
            <a:ext cx="5486400" cy="274320"/>
          </a:xfrm>
          <a:prstGeom prst="rect">
            <a:avLst/>
          </a:prstGeom>
          <a:noFill/>
        </p:spPr>
        <p:txBody>
          <a:bodyPr wrap="square" lIns="0" rIns="0" tIns="0" bIns="0" anchor="t">
            <a:noAutofit/>
          </a:bodyPr>
          <a:lstStyle/>
          <a:p>
            <a:pPr algn="l"/>
            <a:r>
              <a:rPr sz="1000" b="0">
                <a:solidFill>
                  <a:srgbClr val="A3959B"/>
                </a:solidFill>
                <a:latin typeface="Segoe UI"/>
              </a:rPr>
              <a:t>AlgoLearn  ·  SD Squad</a:t>
            </a:r>
          </a:p>
        </p:txBody>
      </p:sp>
      <p:sp>
        <p:nvSpPr>
          <p:cNvPr id="39" name="TextBox 38"/>
          <p:cNvSpPr txBox="1"/>
          <p:nvPr/>
        </p:nvSpPr>
        <p:spPr>
          <a:xfrm>
            <a:off x="10728655" y="6382512"/>
            <a:ext cx="914400" cy="274320"/>
          </a:xfrm>
          <a:prstGeom prst="rect">
            <a:avLst/>
          </a:prstGeom>
          <a:noFill/>
        </p:spPr>
        <p:txBody>
          <a:bodyPr wrap="square" lIns="0" rIns="0" tIns="0" bIns="0" anchor="t">
            <a:noAutofit/>
          </a:bodyPr>
          <a:lstStyle/>
          <a:p>
            <a:pPr algn="r"/>
            <a:r>
              <a:rPr sz="1000" b="0">
                <a:solidFill>
                  <a:srgbClr val="A3959B"/>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0E10"/>
        </a:solidFill>
        <a:effectLst/>
      </p:bgPr>
    </p:bg>
    <p:spTree>
      <p:nvGrpSpPr>
        <p:cNvPr id="1" name=""/>
        <p:cNvGrpSpPr/>
        <p:nvPr/>
      </p:nvGrpSpPr>
      <p:grpSpPr/>
      <p:sp>
        <p:nvSpPr>
          <p:cNvPr id="2" name="Title 1"/>
          <p:cNvSpPr>
            <a:spLocks noGrp="1"/>
          </p:cNvSpPr>
          <p:nvPr>
            <p:ph type="title"/>
          </p:nvPr>
        </p:nvSpPr>
        <p:spPr>
          <a:xfrm>
            <a:off x="548640" y="841248"/>
            <a:ext cx="11094415" cy="685800"/>
          </a:xfrm>
        </p:spPr>
        <p:txBody>
          <a:bodyPr wrap="square" lIns="0" rIns="0" tIns="0" bIns="0" anchor="t">
            <a:noAutofit/>
          </a:bodyPr>
          <a:lstStyle/>
          <a:p>
            <a:pPr algn="l"/>
            <a:r>
              <a:rPr sz="3000" b="1">
                <a:solidFill>
                  <a:srgbClr val="F5EDF0"/>
                </a:solidFill>
                <a:latin typeface="Segoe UI"/>
              </a:rPr>
              <a:t>Home and level pages</a:t>
            </a:r>
          </a:p>
        </p:txBody>
      </p:sp>
      <p:sp>
        <p:nvSpPr>
          <p:cNvPr id="3" name="Rounded Rectangle 2"/>
          <p:cNvSpPr/>
          <p:nvPr/>
        </p:nvSpPr>
        <p:spPr>
          <a:xfrm>
            <a:off x="548640" y="457200"/>
            <a:ext cx="836676" cy="292608"/>
          </a:xfrm>
          <a:prstGeom prst="roundRect">
            <a:avLst>
              <a:gd name="adj" fmla="val 50000"/>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457200"/>
            <a:ext cx="836676" cy="292608"/>
          </a:xfrm>
          <a:prstGeom prst="rect">
            <a:avLst/>
          </a:prstGeom>
          <a:noFill/>
        </p:spPr>
        <p:txBody>
          <a:bodyPr wrap="square" lIns="0" rIns="0" tIns="0" bIns="0" anchor="ctr">
            <a:noAutofit/>
          </a:bodyPr>
          <a:lstStyle/>
          <a:p>
            <a:pPr algn="ctr"/>
            <a:r>
              <a:rPr sz="1100" b="1">
                <a:solidFill>
                  <a:srgbClr val="F48AAA"/>
                </a:solidFill>
                <a:latin typeface="Segoe UI"/>
              </a:rPr>
              <a:t>Screens</a:t>
            </a:r>
          </a:p>
        </p:txBody>
      </p:sp>
      <p:sp>
        <p:nvSpPr>
          <p:cNvPr id="5" name="Rounded Rectangle 4"/>
          <p:cNvSpPr/>
          <p:nvPr/>
        </p:nvSpPr>
        <p:spPr>
          <a:xfrm>
            <a:off x="493776" y="1728216"/>
            <a:ext cx="5230368" cy="3310128"/>
          </a:xfrm>
          <a:prstGeom prst="roundRect">
            <a:avLst>
              <a:gd name="adj" fmla="val 3314"/>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01-home.png"/>
          <p:cNvPicPr>
            <a:picLocks noChangeAspect="1"/>
          </p:cNvPicPr>
          <p:nvPr/>
        </p:nvPicPr>
        <p:blipFill>
          <a:blip r:embed="rId2"/>
          <a:srcRect/>
          <a:stretch>
            <a:fillRect/>
          </a:stretch>
        </p:blipFill>
        <p:spPr>
          <a:xfrm>
            <a:off x="548640" y="1783080"/>
            <a:ext cx="5120640" cy="3200400"/>
          </a:xfrm>
          <a:prstGeom prst="rect">
            <a:avLst/>
          </a:prstGeom>
        </p:spPr>
      </p:pic>
      <p:sp>
        <p:nvSpPr>
          <p:cNvPr id="7" name="TextBox 6"/>
          <p:cNvSpPr txBox="1"/>
          <p:nvPr/>
        </p:nvSpPr>
        <p:spPr>
          <a:xfrm>
            <a:off x="548640" y="5184648"/>
            <a:ext cx="5120640" cy="365760"/>
          </a:xfrm>
          <a:prstGeom prst="rect">
            <a:avLst/>
          </a:prstGeom>
          <a:noFill/>
        </p:spPr>
        <p:txBody>
          <a:bodyPr wrap="square" lIns="0" rIns="0" tIns="0" bIns="0" anchor="t">
            <a:noAutofit/>
          </a:bodyPr>
          <a:lstStyle/>
          <a:p>
            <a:pPr algn="l"/>
            <a:r>
              <a:rPr sz="1700" b="1">
                <a:solidFill>
                  <a:srgbClr val="F5EDF0"/>
                </a:solidFill>
                <a:latin typeface="Segoe UI"/>
              </a:rPr>
              <a:t>Home</a:t>
            </a:r>
          </a:p>
        </p:txBody>
      </p:sp>
      <p:sp>
        <p:nvSpPr>
          <p:cNvPr id="8" name="TextBox 7"/>
          <p:cNvSpPr txBox="1"/>
          <p:nvPr/>
        </p:nvSpPr>
        <p:spPr>
          <a:xfrm>
            <a:off x="548640" y="5550408"/>
            <a:ext cx="5120640" cy="548640"/>
          </a:xfrm>
          <a:prstGeom prst="rect">
            <a:avLst/>
          </a:prstGeom>
          <a:noFill/>
        </p:spPr>
        <p:txBody>
          <a:bodyPr wrap="square" lIns="0" rIns="0" tIns="0" bIns="0" anchor="t">
            <a:noAutofit/>
          </a:bodyPr>
          <a:lstStyle/>
          <a:p>
            <a:pPr algn="l"/>
            <a:r>
              <a:rPr sz="1300" b="0">
                <a:solidFill>
                  <a:srgbClr val="A3959B"/>
                </a:solidFill>
                <a:latin typeface="Segoe UI"/>
              </a:rPr>
              <a:t>All three levels and your progress. Hard stays locked until Intermediate is passed.</a:t>
            </a:r>
          </a:p>
        </p:txBody>
      </p:sp>
      <p:sp>
        <p:nvSpPr>
          <p:cNvPr id="9" name="Rounded Rectangle 8"/>
          <p:cNvSpPr/>
          <p:nvPr/>
        </p:nvSpPr>
        <p:spPr>
          <a:xfrm>
            <a:off x="6467551" y="1728216"/>
            <a:ext cx="5230368" cy="3310128"/>
          </a:xfrm>
          <a:prstGeom prst="roundRect">
            <a:avLst>
              <a:gd name="adj" fmla="val 3314"/>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02-easy-level.png"/>
          <p:cNvPicPr>
            <a:picLocks noChangeAspect="1"/>
          </p:cNvPicPr>
          <p:nvPr/>
        </p:nvPicPr>
        <p:blipFill>
          <a:blip r:embed="rId3"/>
          <a:srcRect/>
          <a:stretch>
            <a:fillRect/>
          </a:stretch>
        </p:blipFill>
        <p:spPr>
          <a:xfrm>
            <a:off x="6522415" y="1783080"/>
            <a:ext cx="5120640" cy="3200400"/>
          </a:xfrm>
          <a:prstGeom prst="rect">
            <a:avLst/>
          </a:prstGeom>
        </p:spPr>
      </p:pic>
      <p:sp>
        <p:nvSpPr>
          <p:cNvPr id="11" name="TextBox 10"/>
          <p:cNvSpPr txBox="1"/>
          <p:nvPr/>
        </p:nvSpPr>
        <p:spPr>
          <a:xfrm>
            <a:off x="6522415" y="5184648"/>
            <a:ext cx="5120640" cy="365760"/>
          </a:xfrm>
          <a:prstGeom prst="rect">
            <a:avLst/>
          </a:prstGeom>
          <a:noFill/>
        </p:spPr>
        <p:txBody>
          <a:bodyPr wrap="square" lIns="0" rIns="0" tIns="0" bIns="0" anchor="t">
            <a:noAutofit/>
          </a:bodyPr>
          <a:lstStyle/>
          <a:p>
            <a:pPr algn="l"/>
            <a:r>
              <a:rPr sz="1700" b="1">
                <a:solidFill>
                  <a:srgbClr val="F5EDF0"/>
                </a:solidFill>
                <a:latin typeface="Segoe UI"/>
              </a:rPr>
              <a:t>Level page</a:t>
            </a:r>
          </a:p>
        </p:txBody>
      </p:sp>
      <p:sp>
        <p:nvSpPr>
          <p:cNvPr id="12" name="TextBox 11"/>
          <p:cNvSpPr txBox="1"/>
          <p:nvPr/>
        </p:nvSpPr>
        <p:spPr>
          <a:xfrm>
            <a:off x="6522415" y="5550408"/>
            <a:ext cx="5120640" cy="548640"/>
          </a:xfrm>
          <a:prstGeom prst="rect">
            <a:avLst/>
          </a:prstGeom>
          <a:noFill/>
        </p:spPr>
        <p:txBody>
          <a:bodyPr wrap="square" lIns="0" rIns="0" tIns="0" bIns="0" anchor="t">
            <a:noAutofit/>
          </a:bodyPr>
          <a:lstStyle/>
          <a:p>
            <a:pPr algn="l"/>
            <a:r>
              <a:rPr sz="1300" b="0">
                <a:solidFill>
                  <a:srgbClr val="A3959B"/>
                </a:solidFill>
                <a:latin typeface="Segoe UI"/>
              </a:rPr>
              <a:t>The three lessons with their status, plus the milestone quiz card.</a:t>
            </a:r>
          </a:p>
        </p:txBody>
      </p:sp>
      <p:sp>
        <p:nvSpPr>
          <p:cNvPr id="13" name="TextBox 12"/>
          <p:cNvSpPr txBox="1"/>
          <p:nvPr/>
        </p:nvSpPr>
        <p:spPr>
          <a:xfrm>
            <a:off x="548640" y="6382512"/>
            <a:ext cx="5486400" cy="274320"/>
          </a:xfrm>
          <a:prstGeom prst="rect">
            <a:avLst/>
          </a:prstGeom>
          <a:noFill/>
        </p:spPr>
        <p:txBody>
          <a:bodyPr wrap="square" lIns="0" rIns="0" tIns="0" bIns="0" anchor="t">
            <a:noAutofit/>
          </a:bodyPr>
          <a:lstStyle/>
          <a:p>
            <a:pPr algn="l"/>
            <a:r>
              <a:rPr sz="1000" b="0">
                <a:solidFill>
                  <a:srgbClr val="A3959B"/>
                </a:solidFill>
                <a:latin typeface="Segoe UI"/>
              </a:rPr>
              <a:t>AlgoLearn  ·  SD Squad</a:t>
            </a:r>
          </a:p>
        </p:txBody>
      </p:sp>
      <p:sp>
        <p:nvSpPr>
          <p:cNvPr id="14" name="TextBox 13"/>
          <p:cNvSpPr txBox="1"/>
          <p:nvPr/>
        </p:nvSpPr>
        <p:spPr>
          <a:xfrm>
            <a:off x="10728655" y="6382512"/>
            <a:ext cx="914400" cy="274320"/>
          </a:xfrm>
          <a:prstGeom prst="rect">
            <a:avLst/>
          </a:prstGeom>
          <a:noFill/>
        </p:spPr>
        <p:txBody>
          <a:bodyPr wrap="square" lIns="0" rIns="0" tIns="0" bIns="0" anchor="t">
            <a:noAutofit/>
          </a:bodyPr>
          <a:lstStyle/>
          <a:p>
            <a:pPr algn="r"/>
            <a:r>
              <a:rPr sz="1000" b="0">
                <a:solidFill>
                  <a:srgbClr val="A3959B"/>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0E10"/>
        </a:solidFill>
        <a:effectLst/>
      </p:bgPr>
    </p:bg>
    <p:spTree>
      <p:nvGrpSpPr>
        <p:cNvPr id="1" name=""/>
        <p:cNvGrpSpPr/>
        <p:nvPr/>
      </p:nvGrpSpPr>
      <p:grpSpPr/>
      <p:sp>
        <p:nvSpPr>
          <p:cNvPr id="2" name="Title 1"/>
          <p:cNvSpPr>
            <a:spLocks noGrp="1"/>
          </p:cNvSpPr>
          <p:nvPr>
            <p:ph type="title"/>
          </p:nvPr>
        </p:nvSpPr>
        <p:spPr>
          <a:xfrm>
            <a:off x="548640" y="841248"/>
            <a:ext cx="11094415" cy="685800"/>
          </a:xfrm>
        </p:spPr>
        <p:txBody>
          <a:bodyPr wrap="square" lIns="0" rIns="0" tIns="0" bIns="0" anchor="t">
            <a:noAutofit/>
          </a:bodyPr>
          <a:lstStyle/>
          <a:p>
            <a:pPr algn="l"/>
            <a:r>
              <a:rPr sz="3000" b="1">
                <a:solidFill>
                  <a:srgbClr val="F5EDF0"/>
                </a:solidFill>
                <a:latin typeface="Segoe UI"/>
              </a:rPr>
              <a:t>Lessons you can read and watch</a:t>
            </a:r>
          </a:p>
        </p:txBody>
      </p:sp>
      <p:sp>
        <p:nvSpPr>
          <p:cNvPr id="3" name="Rounded Rectangle 2"/>
          <p:cNvSpPr/>
          <p:nvPr/>
        </p:nvSpPr>
        <p:spPr>
          <a:xfrm>
            <a:off x="548640" y="457200"/>
            <a:ext cx="836676" cy="292608"/>
          </a:xfrm>
          <a:prstGeom prst="roundRect">
            <a:avLst>
              <a:gd name="adj" fmla="val 50000"/>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457200"/>
            <a:ext cx="836676" cy="292608"/>
          </a:xfrm>
          <a:prstGeom prst="rect">
            <a:avLst/>
          </a:prstGeom>
          <a:noFill/>
        </p:spPr>
        <p:txBody>
          <a:bodyPr wrap="square" lIns="0" rIns="0" tIns="0" bIns="0" anchor="ctr">
            <a:noAutofit/>
          </a:bodyPr>
          <a:lstStyle/>
          <a:p>
            <a:pPr algn="ctr"/>
            <a:r>
              <a:rPr sz="1100" b="1">
                <a:solidFill>
                  <a:srgbClr val="F48AAA"/>
                </a:solidFill>
                <a:latin typeface="Segoe UI"/>
              </a:rPr>
              <a:t>Screens</a:t>
            </a:r>
          </a:p>
        </p:txBody>
      </p:sp>
      <p:sp>
        <p:nvSpPr>
          <p:cNvPr id="5" name="Rounded Rectangle 4"/>
          <p:cNvSpPr/>
          <p:nvPr/>
        </p:nvSpPr>
        <p:spPr>
          <a:xfrm>
            <a:off x="493776" y="1728216"/>
            <a:ext cx="6784848" cy="4281678"/>
          </a:xfrm>
          <a:prstGeom prst="roundRect">
            <a:avLst>
              <a:gd name="adj" fmla="val 2562"/>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03-bubble.png"/>
          <p:cNvPicPr>
            <a:picLocks noChangeAspect="1"/>
          </p:cNvPicPr>
          <p:nvPr/>
        </p:nvPicPr>
        <p:blipFill>
          <a:blip r:embed="rId2"/>
          <a:srcRect/>
          <a:stretch>
            <a:fillRect/>
          </a:stretch>
        </p:blipFill>
        <p:spPr>
          <a:xfrm>
            <a:off x="548640" y="1783080"/>
            <a:ext cx="6675120" cy="4171950"/>
          </a:xfrm>
          <a:prstGeom prst="rect">
            <a:avLst/>
          </a:prstGeom>
        </p:spPr>
      </p:pic>
      <p:sp>
        <p:nvSpPr>
          <p:cNvPr id="7" name="Oval 6"/>
          <p:cNvSpPr/>
          <p:nvPr/>
        </p:nvSpPr>
        <p:spPr>
          <a:xfrm>
            <a:off x="7726679" y="1847088"/>
            <a:ext cx="182880" cy="182880"/>
          </a:xfrm>
          <a:prstGeom prst="ellipse">
            <a:avLst/>
          </a:prstGeom>
          <a:solidFill>
            <a:srgbClr val="C2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055863" y="1783080"/>
            <a:ext cx="3587191" cy="329184"/>
          </a:xfrm>
          <a:prstGeom prst="rect">
            <a:avLst/>
          </a:prstGeom>
          <a:noFill/>
        </p:spPr>
        <p:txBody>
          <a:bodyPr wrap="square" lIns="0" rIns="0" tIns="0" bIns="0" anchor="t">
            <a:noAutofit/>
          </a:bodyPr>
          <a:lstStyle/>
          <a:p>
            <a:pPr algn="l"/>
            <a:r>
              <a:rPr sz="1500" b="1">
                <a:solidFill>
                  <a:srgbClr val="F5EDF0"/>
                </a:solidFill>
                <a:latin typeface="Segoe UI"/>
              </a:rPr>
              <a:t>Plain explanation</a:t>
            </a:r>
          </a:p>
        </p:txBody>
      </p:sp>
      <p:sp>
        <p:nvSpPr>
          <p:cNvPr id="9" name="TextBox 8"/>
          <p:cNvSpPr txBox="1"/>
          <p:nvPr/>
        </p:nvSpPr>
        <p:spPr>
          <a:xfrm>
            <a:off x="8055863" y="2112264"/>
            <a:ext cx="3587191" cy="457200"/>
          </a:xfrm>
          <a:prstGeom prst="rect">
            <a:avLst/>
          </a:prstGeom>
          <a:noFill/>
        </p:spPr>
        <p:txBody>
          <a:bodyPr wrap="square" lIns="0" rIns="0" tIns="0" bIns="0" anchor="t">
            <a:noAutofit/>
          </a:bodyPr>
          <a:lstStyle/>
          <a:p>
            <a:pPr algn="l"/>
            <a:r>
              <a:rPr sz="1200" b="0">
                <a:solidFill>
                  <a:srgbClr val="A3959B"/>
                </a:solidFill>
                <a:latin typeface="Segoe UI"/>
              </a:rPr>
              <a:t>What the algorithm does, in simple words and numbered steps.</a:t>
            </a:r>
          </a:p>
        </p:txBody>
      </p:sp>
      <p:sp>
        <p:nvSpPr>
          <p:cNvPr id="10" name="Oval 9"/>
          <p:cNvSpPr/>
          <p:nvPr/>
        </p:nvSpPr>
        <p:spPr>
          <a:xfrm>
            <a:off x="7726679" y="2624327"/>
            <a:ext cx="182880" cy="182880"/>
          </a:xfrm>
          <a:prstGeom prst="ellipse">
            <a:avLst/>
          </a:prstGeom>
          <a:solidFill>
            <a:srgbClr val="C2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55863" y="2560320"/>
            <a:ext cx="3587191" cy="329184"/>
          </a:xfrm>
          <a:prstGeom prst="rect">
            <a:avLst/>
          </a:prstGeom>
          <a:noFill/>
        </p:spPr>
        <p:txBody>
          <a:bodyPr wrap="square" lIns="0" rIns="0" tIns="0" bIns="0" anchor="t">
            <a:noAutofit/>
          </a:bodyPr>
          <a:lstStyle/>
          <a:p>
            <a:pPr algn="l"/>
            <a:r>
              <a:rPr sz="1500" b="1">
                <a:solidFill>
                  <a:srgbClr val="F5EDF0"/>
                </a:solidFill>
                <a:latin typeface="Segoe UI"/>
              </a:rPr>
              <a:t>Real Java code</a:t>
            </a:r>
          </a:p>
        </p:txBody>
      </p:sp>
      <p:sp>
        <p:nvSpPr>
          <p:cNvPr id="12" name="TextBox 11"/>
          <p:cNvSpPr txBox="1"/>
          <p:nvPr/>
        </p:nvSpPr>
        <p:spPr>
          <a:xfrm>
            <a:off x="8055863" y="2889503"/>
            <a:ext cx="3587191" cy="457200"/>
          </a:xfrm>
          <a:prstGeom prst="rect">
            <a:avLst/>
          </a:prstGeom>
          <a:noFill/>
        </p:spPr>
        <p:txBody>
          <a:bodyPr wrap="square" lIns="0" rIns="0" tIns="0" bIns="0" anchor="t">
            <a:noAutofit/>
          </a:bodyPr>
          <a:lstStyle/>
          <a:p>
            <a:pPr algn="l"/>
            <a:r>
              <a:rPr sz="1200" b="0">
                <a:solidFill>
                  <a:srgbClr val="A3959B"/>
                </a:solidFill>
                <a:latin typeface="Segoe UI"/>
              </a:rPr>
              <a:t>The same code students will write, with highlighting.</a:t>
            </a:r>
          </a:p>
        </p:txBody>
      </p:sp>
      <p:sp>
        <p:nvSpPr>
          <p:cNvPr id="13" name="Oval 12"/>
          <p:cNvSpPr/>
          <p:nvPr/>
        </p:nvSpPr>
        <p:spPr>
          <a:xfrm>
            <a:off x="7726679" y="3401568"/>
            <a:ext cx="182880" cy="182880"/>
          </a:xfrm>
          <a:prstGeom prst="ellipse">
            <a:avLst/>
          </a:prstGeom>
          <a:solidFill>
            <a:srgbClr val="C2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55863" y="3337560"/>
            <a:ext cx="3587191" cy="329184"/>
          </a:xfrm>
          <a:prstGeom prst="rect">
            <a:avLst/>
          </a:prstGeom>
          <a:noFill/>
        </p:spPr>
        <p:txBody>
          <a:bodyPr wrap="square" lIns="0" rIns="0" tIns="0" bIns="0" anchor="t">
            <a:noAutofit/>
          </a:bodyPr>
          <a:lstStyle/>
          <a:p>
            <a:pPr algn="l"/>
            <a:r>
              <a:rPr sz="1500" b="1">
                <a:solidFill>
                  <a:srgbClr val="F5EDF0"/>
                </a:solidFill>
                <a:latin typeface="Segoe UI"/>
              </a:rPr>
              <a:t>Complexity</a:t>
            </a:r>
          </a:p>
        </p:txBody>
      </p:sp>
      <p:sp>
        <p:nvSpPr>
          <p:cNvPr id="15" name="TextBox 14"/>
          <p:cNvSpPr txBox="1"/>
          <p:nvPr/>
        </p:nvSpPr>
        <p:spPr>
          <a:xfrm>
            <a:off x="8055863" y="3666744"/>
            <a:ext cx="3587191" cy="457200"/>
          </a:xfrm>
          <a:prstGeom prst="rect">
            <a:avLst/>
          </a:prstGeom>
          <a:noFill/>
        </p:spPr>
        <p:txBody>
          <a:bodyPr wrap="square" lIns="0" rIns="0" tIns="0" bIns="0" anchor="t">
            <a:noAutofit/>
          </a:bodyPr>
          <a:lstStyle/>
          <a:p>
            <a:pPr algn="l"/>
            <a:r>
              <a:rPr sz="1200" b="0">
                <a:solidFill>
                  <a:srgbClr val="A3959B"/>
                </a:solidFill>
                <a:latin typeface="Segoe UI"/>
              </a:rPr>
              <a:t>Time and space in Big-O, for every algorithm.</a:t>
            </a:r>
          </a:p>
        </p:txBody>
      </p:sp>
      <p:sp>
        <p:nvSpPr>
          <p:cNvPr id="16" name="Rounded Rectangle 15"/>
          <p:cNvSpPr/>
          <p:nvPr/>
        </p:nvSpPr>
        <p:spPr>
          <a:xfrm>
            <a:off x="7671815" y="4151376"/>
            <a:ext cx="3127248" cy="1995678"/>
          </a:xfrm>
          <a:prstGeom prst="roundRect">
            <a:avLst>
              <a:gd name="adj" fmla="val 5498"/>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09-visualizer.png"/>
          <p:cNvPicPr>
            <a:picLocks noChangeAspect="1"/>
          </p:cNvPicPr>
          <p:nvPr/>
        </p:nvPicPr>
        <p:blipFill>
          <a:blip r:embed="rId3"/>
          <a:srcRect/>
          <a:stretch>
            <a:fillRect/>
          </a:stretch>
        </p:blipFill>
        <p:spPr>
          <a:xfrm>
            <a:off x="7726679" y="4206240"/>
            <a:ext cx="3017520" cy="1885950"/>
          </a:xfrm>
          <a:prstGeom prst="rect">
            <a:avLst/>
          </a:prstGeom>
        </p:spPr>
      </p:pic>
      <p:sp>
        <p:nvSpPr>
          <p:cNvPr id="18" name="TextBox 17"/>
          <p:cNvSpPr txBox="1"/>
          <p:nvPr/>
        </p:nvSpPr>
        <p:spPr>
          <a:xfrm>
            <a:off x="548640" y="6382512"/>
            <a:ext cx="5486400" cy="274320"/>
          </a:xfrm>
          <a:prstGeom prst="rect">
            <a:avLst/>
          </a:prstGeom>
          <a:noFill/>
        </p:spPr>
        <p:txBody>
          <a:bodyPr wrap="square" lIns="0" rIns="0" tIns="0" bIns="0" anchor="t">
            <a:noAutofit/>
          </a:bodyPr>
          <a:lstStyle/>
          <a:p>
            <a:pPr algn="l"/>
            <a:r>
              <a:rPr sz="1000" b="0">
                <a:solidFill>
                  <a:srgbClr val="A3959B"/>
                </a:solidFill>
                <a:latin typeface="Segoe UI"/>
              </a:rPr>
              <a:t>AlgoLearn  ·  SD Squad</a:t>
            </a:r>
          </a:p>
        </p:txBody>
      </p:sp>
      <p:sp>
        <p:nvSpPr>
          <p:cNvPr id="19" name="TextBox 18"/>
          <p:cNvSpPr txBox="1"/>
          <p:nvPr/>
        </p:nvSpPr>
        <p:spPr>
          <a:xfrm>
            <a:off x="10728655" y="6382512"/>
            <a:ext cx="914400" cy="274320"/>
          </a:xfrm>
          <a:prstGeom prst="rect">
            <a:avLst/>
          </a:prstGeom>
          <a:noFill/>
        </p:spPr>
        <p:txBody>
          <a:bodyPr wrap="square" lIns="0" rIns="0" tIns="0" bIns="0" anchor="t">
            <a:noAutofit/>
          </a:bodyPr>
          <a:lstStyle/>
          <a:p>
            <a:pPr algn="r"/>
            <a:r>
              <a:rPr sz="1000" b="0">
                <a:solidFill>
                  <a:srgbClr val="A3959B"/>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0E10"/>
        </a:solidFill>
        <a:effectLst/>
      </p:bgPr>
    </p:bg>
    <p:spTree>
      <p:nvGrpSpPr>
        <p:cNvPr id="1" name=""/>
        <p:cNvGrpSpPr/>
        <p:nvPr/>
      </p:nvGrpSpPr>
      <p:grpSpPr/>
      <p:sp>
        <p:nvSpPr>
          <p:cNvPr id="2" name="Title 1"/>
          <p:cNvSpPr>
            <a:spLocks noGrp="1"/>
          </p:cNvSpPr>
          <p:nvPr>
            <p:ph type="title"/>
          </p:nvPr>
        </p:nvSpPr>
        <p:spPr>
          <a:xfrm>
            <a:off x="548640" y="841248"/>
            <a:ext cx="11094415" cy="685800"/>
          </a:xfrm>
        </p:spPr>
        <p:txBody>
          <a:bodyPr wrap="square" lIns="0" rIns="0" tIns="0" bIns="0" anchor="t">
            <a:noAutofit/>
          </a:bodyPr>
          <a:lstStyle/>
          <a:p>
            <a:pPr algn="l"/>
            <a:r>
              <a:rPr sz="3000" b="1">
                <a:solidFill>
                  <a:srgbClr val="F5EDF0"/>
                </a:solidFill>
                <a:latin typeface="Segoe UI"/>
              </a:rPr>
              <a:t>Milestone quiz with instant feedback</a:t>
            </a:r>
          </a:p>
        </p:txBody>
      </p:sp>
      <p:sp>
        <p:nvSpPr>
          <p:cNvPr id="3" name="Rounded Rectangle 2"/>
          <p:cNvSpPr/>
          <p:nvPr/>
        </p:nvSpPr>
        <p:spPr>
          <a:xfrm>
            <a:off x="548640" y="457200"/>
            <a:ext cx="836676" cy="292608"/>
          </a:xfrm>
          <a:prstGeom prst="roundRect">
            <a:avLst>
              <a:gd name="adj" fmla="val 50000"/>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457200"/>
            <a:ext cx="836676" cy="292608"/>
          </a:xfrm>
          <a:prstGeom prst="rect">
            <a:avLst/>
          </a:prstGeom>
          <a:noFill/>
        </p:spPr>
        <p:txBody>
          <a:bodyPr wrap="square" lIns="0" rIns="0" tIns="0" bIns="0" anchor="ctr">
            <a:noAutofit/>
          </a:bodyPr>
          <a:lstStyle/>
          <a:p>
            <a:pPr algn="ctr"/>
            <a:r>
              <a:rPr sz="1100" b="1">
                <a:solidFill>
                  <a:srgbClr val="F48AAA"/>
                </a:solidFill>
                <a:latin typeface="Segoe UI"/>
              </a:rPr>
              <a:t>Screens</a:t>
            </a:r>
          </a:p>
        </p:txBody>
      </p:sp>
      <p:sp>
        <p:nvSpPr>
          <p:cNvPr id="5" name="Rounded Rectangle 4"/>
          <p:cNvSpPr/>
          <p:nvPr/>
        </p:nvSpPr>
        <p:spPr>
          <a:xfrm>
            <a:off x="493776" y="1773936"/>
            <a:ext cx="3621024" cy="2304288"/>
          </a:xfrm>
          <a:prstGeom prst="roundRect">
            <a:avLst>
              <a:gd name="adj" fmla="val 4761"/>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06-int-quiz.png"/>
          <p:cNvPicPr>
            <a:picLocks noChangeAspect="1"/>
          </p:cNvPicPr>
          <p:nvPr/>
        </p:nvPicPr>
        <p:blipFill>
          <a:blip r:embed="rId2"/>
          <a:srcRect/>
          <a:stretch>
            <a:fillRect/>
          </a:stretch>
        </p:blipFill>
        <p:spPr>
          <a:xfrm>
            <a:off x="548640" y="1828800"/>
            <a:ext cx="3511296" cy="2194560"/>
          </a:xfrm>
          <a:prstGeom prst="rect">
            <a:avLst/>
          </a:prstGeom>
        </p:spPr>
      </p:pic>
      <p:sp>
        <p:nvSpPr>
          <p:cNvPr id="7" name="TextBox 6"/>
          <p:cNvSpPr txBox="1"/>
          <p:nvPr/>
        </p:nvSpPr>
        <p:spPr>
          <a:xfrm>
            <a:off x="548640" y="4224528"/>
            <a:ext cx="3511296" cy="365760"/>
          </a:xfrm>
          <a:prstGeom prst="rect">
            <a:avLst/>
          </a:prstGeom>
          <a:noFill/>
        </p:spPr>
        <p:txBody>
          <a:bodyPr wrap="square" lIns="0" rIns="0" tIns="0" bIns="0" anchor="t">
            <a:noAutofit/>
          </a:bodyPr>
          <a:lstStyle/>
          <a:p>
            <a:pPr algn="l"/>
            <a:r>
              <a:rPr sz="1600" b="1">
                <a:solidFill>
                  <a:srgbClr val="F5EDF0"/>
                </a:solidFill>
                <a:latin typeface="Segoe UI"/>
              </a:rPr>
              <a:t>1  Answer</a:t>
            </a:r>
          </a:p>
        </p:txBody>
      </p:sp>
      <p:sp>
        <p:nvSpPr>
          <p:cNvPr id="8" name="TextBox 7"/>
          <p:cNvSpPr txBox="1"/>
          <p:nvPr/>
        </p:nvSpPr>
        <p:spPr>
          <a:xfrm>
            <a:off x="548640" y="4590288"/>
            <a:ext cx="3511296" cy="640080"/>
          </a:xfrm>
          <a:prstGeom prst="rect">
            <a:avLst/>
          </a:prstGeom>
          <a:noFill/>
        </p:spPr>
        <p:txBody>
          <a:bodyPr wrap="square" lIns="0" rIns="0" tIns="0" bIns="0" anchor="t">
            <a:noAutofit/>
          </a:bodyPr>
          <a:lstStyle/>
          <a:p>
            <a:pPr algn="l"/>
            <a:r>
              <a:rPr sz="1300" b="0">
                <a:solidFill>
                  <a:srgbClr val="A3959B"/>
                </a:solidFill>
                <a:latin typeface="Segoe UI"/>
              </a:rPr>
              <a:t>Pick one of four options and press Check answer.</a:t>
            </a:r>
          </a:p>
        </p:txBody>
      </p:sp>
      <p:sp>
        <p:nvSpPr>
          <p:cNvPr id="9" name="Rounded Rectangle 8"/>
          <p:cNvSpPr/>
          <p:nvPr/>
        </p:nvSpPr>
        <p:spPr>
          <a:xfrm>
            <a:off x="4288536" y="1773936"/>
            <a:ext cx="3621024" cy="2304288"/>
          </a:xfrm>
          <a:prstGeom prst="roundRect">
            <a:avLst>
              <a:gd name="adj" fmla="val 4761"/>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07-int-feedback.png"/>
          <p:cNvPicPr>
            <a:picLocks noChangeAspect="1"/>
          </p:cNvPicPr>
          <p:nvPr/>
        </p:nvPicPr>
        <p:blipFill>
          <a:blip r:embed="rId3"/>
          <a:srcRect/>
          <a:stretch>
            <a:fillRect/>
          </a:stretch>
        </p:blipFill>
        <p:spPr>
          <a:xfrm>
            <a:off x="4343399" y="1828800"/>
            <a:ext cx="3511296" cy="2194560"/>
          </a:xfrm>
          <a:prstGeom prst="rect">
            <a:avLst/>
          </a:prstGeom>
        </p:spPr>
      </p:pic>
      <p:sp>
        <p:nvSpPr>
          <p:cNvPr id="11" name="TextBox 10"/>
          <p:cNvSpPr txBox="1"/>
          <p:nvPr/>
        </p:nvSpPr>
        <p:spPr>
          <a:xfrm>
            <a:off x="4343399" y="4224528"/>
            <a:ext cx="3511296" cy="365760"/>
          </a:xfrm>
          <a:prstGeom prst="rect">
            <a:avLst/>
          </a:prstGeom>
          <a:noFill/>
        </p:spPr>
        <p:txBody>
          <a:bodyPr wrap="square" lIns="0" rIns="0" tIns="0" bIns="0" anchor="t">
            <a:noAutofit/>
          </a:bodyPr>
          <a:lstStyle/>
          <a:p>
            <a:pPr algn="l"/>
            <a:r>
              <a:rPr sz="1600" b="1">
                <a:solidFill>
                  <a:srgbClr val="F5EDF0"/>
                </a:solidFill>
                <a:latin typeface="Segoe UI"/>
              </a:rPr>
              <a:t>2  Feedback</a:t>
            </a:r>
          </a:p>
        </p:txBody>
      </p:sp>
      <p:sp>
        <p:nvSpPr>
          <p:cNvPr id="12" name="TextBox 11"/>
          <p:cNvSpPr txBox="1"/>
          <p:nvPr/>
        </p:nvSpPr>
        <p:spPr>
          <a:xfrm>
            <a:off x="4343399" y="4590288"/>
            <a:ext cx="3511296" cy="640080"/>
          </a:xfrm>
          <a:prstGeom prst="rect">
            <a:avLst/>
          </a:prstGeom>
          <a:noFill/>
        </p:spPr>
        <p:txBody>
          <a:bodyPr wrap="square" lIns="0" rIns="0" tIns="0" bIns="0" anchor="t">
            <a:noAutofit/>
          </a:bodyPr>
          <a:lstStyle/>
          <a:p>
            <a:pPr algn="l"/>
            <a:r>
              <a:rPr sz="1300" b="0">
                <a:solidFill>
                  <a:srgbClr val="A3959B"/>
                </a:solidFill>
                <a:latin typeface="Segoe UI"/>
              </a:rPr>
              <a:t>The right answer turns green, a wrong one red, with a short explanation.</a:t>
            </a:r>
          </a:p>
        </p:txBody>
      </p:sp>
      <p:sp>
        <p:nvSpPr>
          <p:cNvPr id="13" name="Rounded Rectangle 12"/>
          <p:cNvSpPr/>
          <p:nvPr/>
        </p:nvSpPr>
        <p:spPr>
          <a:xfrm>
            <a:off x="8083295" y="1773936"/>
            <a:ext cx="3621024" cy="2304288"/>
          </a:xfrm>
          <a:prstGeom prst="roundRect">
            <a:avLst>
              <a:gd name="adj" fmla="val 4761"/>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08-easy-results.png"/>
          <p:cNvPicPr>
            <a:picLocks noChangeAspect="1"/>
          </p:cNvPicPr>
          <p:nvPr/>
        </p:nvPicPr>
        <p:blipFill>
          <a:blip r:embed="rId4"/>
          <a:srcRect/>
          <a:stretch>
            <a:fillRect/>
          </a:stretch>
        </p:blipFill>
        <p:spPr>
          <a:xfrm>
            <a:off x="8138159" y="1828800"/>
            <a:ext cx="3511296" cy="2194560"/>
          </a:xfrm>
          <a:prstGeom prst="rect">
            <a:avLst/>
          </a:prstGeom>
        </p:spPr>
      </p:pic>
      <p:sp>
        <p:nvSpPr>
          <p:cNvPr id="15" name="TextBox 14"/>
          <p:cNvSpPr txBox="1"/>
          <p:nvPr/>
        </p:nvSpPr>
        <p:spPr>
          <a:xfrm>
            <a:off x="8138159" y="4224528"/>
            <a:ext cx="3511296" cy="365760"/>
          </a:xfrm>
          <a:prstGeom prst="rect">
            <a:avLst/>
          </a:prstGeom>
          <a:noFill/>
        </p:spPr>
        <p:txBody>
          <a:bodyPr wrap="square" lIns="0" rIns="0" tIns="0" bIns="0" anchor="t">
            <a:noAutofit/>
          </a:bodyPr>
          <a:lstStyle/>
          <a:p>
            <a:pPr algn="l"/>
            <a:r>
              <a:rPr sz="1600" b="1">
                <a:solidFill>
                  <a:srgbClr val="F5EDF0"/>
                </a:solidFill>
                <a:latin typeface="Segoe UI"/>
              </a:rPr>
              <a:t>3  Results</a:t>
            </a:r>
          </a:p>
        </p:txBody>
      </p:sp>
      <p:sp>
        <p:nvSpPr>
          <p:cNvPr id="16" name="TextBox 15"/>
          <p:cNvSpPr txBox="1"/>
          <p:nvPr/>
        </p:nvSpPr>
        <p:spPr>
          <a:xfrm>
            <a:off x="8138159" y="4590288"/>
            <a:ext cx="3511296" cy="640080"/>
          </a:xfrm>
          <a:prstGeom prst="rect">
            <a:avLst/>
          </a:prstGeom>
          <a:noFill/>
        </p:spPr>
        <p:txBody>
          <a:bodyPr wrap="square" lIns="0" rIns="0" tIns="0" bIns="0" anchor="t">
            <a:noAutofit/>
          </a:bodyPr>
          <a:lstStyle/>
          <a:p>
            <a:pPr algn="l"/>
            <a:r>
              <a:rPr sz="1300" b="0">
                <a:solidFill>
                  <a:srgbClr val="A3959B"/>
                </a:solidFill>
                <a:latin typeface="Segoe UI"/>
              </a:rPr>
              <a:t>Your score, which answers were wrong, and the next level unlocked.</a:t>
            </a:r>
          </a:p>
        </p:txBody>
      </p:sp>
      <p:sp>
        <p:nvSpPr>
          <p:cNvPr id="17" name="Rounded Rectangle 16"/>
          <p:cNvSpPr/>
          <p:nvPr/>
        </p:nvSpPr>
        <p:spPr>
          <a:xfrm>
            <a:off x="548640" y="5440680"/>
            <a:ext cx="11094415" cy="640080"/>
          </a:xfrm>
          <a:prstGeom prst="roundRect">
            <a:avLst>
              <a:gd name="adj" fmla="val 17142"/>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59" y="5440680"/>
            <a:ext cx="10545775" cy="640080"/>
          </a:xfrm>
          <a:prstGeom prst="rect">
            <a:avLst/>
          </a:prstGeom>
          <a:noFill/>
        </p:spPr>
        <p:txBody>
          <a:bodyPr wrap="square" lIns="0" rIns="0" tIns="0" bIns="0" anchor="ctr">
            <a:noAutofit/>
          </a:bodyPr>
          <a:lstStyle/>
          <a:p>
            <a:pPr algn="l"/>
            <a:r>
              <a:rPr sz="1400" b="1">
                <a:solidFill>
                  <a:srgbClr val="F48AAA"/>
                </a:solidFill>
                <a:latin typeface="Segoe UI"/>
              </a:rPr>
              <a:t>15 questions in total  </a:t>
            </a:r>
            <a:r>
              <a:rPr sz="1400" b="0">
                <a:solidFill>
                  <a:srgbClr val="F5EDF0"/>
                </a:solidFill>
                <a:latin typeface="Segoe UI"/>
              </a:rPr>
              <a:t>5 per level, each with an explanation, so a wrong answer still teaches something.</a:t>
            </a:r>
          </a:p>
        </p:txBody>
      </p:sp>
      <p:sp>
        <p:nvSpPr>
          <p:cNvPr id="19" name="TextBox 18"/>
          <p:cNvSpPr txBox="1"/>
          <p:nvPr/>
        </p:nvSpPr>
        <p:spPr>
          <a:xfrm>
            <a:off x="548640" y="6382512"/>
            <a:ext cx="5486400" cy="274320"/>
          </a:xfrm>
          <a:prstGeom prst="rect">
            <a:avLst/>
          </a:prstGeom>
          <a:noFill/>
        </p:spPr>
        <p:txBody>
          <a:bodyPr wrap="square" lIns="0" rIns="0" tIns="0" bIns="0" anchor="t">
            <a:noAutofit/>
          </a:bodyPr>
          <a:lstStyle/>
          <a:p>
            <a:pPr algn="l"/>
            <a:r>
              <a:rPr sz="1000" b="0">
                <a:solidFill>
                  <a:srgbClr val="A3959B"/>
                </a:solidFill>
                <a:latin typeface="Segoe UI"/>
              </a:rPr>
              <a:t>AlgoLearn  ·  SD Squad</a:t>
            </a:r>
          </a:p>
        </p:txBody>
      </p:sp>
      <p:sp>
        <p:nvSpPr>
          <p:cNvPr id="20" name="TextBox 19"/>
          <p:cNvSpPr txBox="1"/>
          <p:nvPr/>
        </p:nvSpPr>
        <p:spPr>
          <a:xfrm>
            <a:off x="10728655" y="6382512"/>
            <a:ext cx="914400" cy="274320"/>
          </a:xfrm>
          <a:prstGeom prst="rect">
            <a:avLst/>
          </a:prstGeom>
          <a:noFill/>
        </p:spPr>
        <p:txBody>
          <a:bodyPr wrap="square" lIns="0" rIns="0" tIns="0" bIns="0" anchor="t">
            <a:noAutofit/>
          </a:bodyPr>
          <a:lstStyle/>
          <a:p>
            <a:pPr algn="r"/>
            <a:r>
              <a:rPr sz="1000" b="0">
                <a:solidFill>
                  <a:srgbClr val="A3959B"/>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0E10"/>
        </a:solidFill>
        <a:effectLst/>
      </p:bgPr>
    </p:bg>
    <p:spTree>
      <p:nvGrpSpPr>
        <p:cNvPr id="1" name=""/>
        <p:cNvGrpSpPr/>
        <p:nvPr/>
      </p:nvGrpSpPr>
      <p:grpSpPr/>
      <p:sp>
        <p:nvSpPr>
          <p:cNvPr id="2" name="Title 1"/>
          <p:cNvSpPr>
            <a:spLocks noGrp="1"/>
          </p:cNvSpPr>
          <p:nvPr>
            <p:ph type="title"/>
          </p:nvPr>
        </p:nvSpPr>
        <p:spPr>
          <a:xfrm>
            <a:off x="548640" y="841248"/>
            <a:ext cx="11094415" cy="685800"/>
          </a:xfrm>
        </p:spPr>
        <p:txBody>
          <a:bodyPr wrap="square" lIns="0" rIns="0" tIns="0" bIns="0" anchor="t">
            <a:noAutofit/>
          </a:bodyPr>
          <a:lstStyle/>
          <a:p>
            <a:pPr algn="l"/>
            <a:r>
              <a:rPr sz="3000" b="1">
                <a:solidFill>
                  <a:srgbClr val="F5EDF0"/>
                </a:solidFill>
                <a:latin typeface="Segoe UI"/>
              </a:rPr>
              <a:t>Try it: the clickable prototype</a:t>
            </a:r>
          </a:p>
        </p:txBody>
      </p:sp>
      <p:sp>
        <p:nvSpPr>
          <p:cNvPr id="3" name="Rounded Rectangle 2"/>
          <p:cNvSpPr/>
          <p:nvPr/>
        </p:nvSpPr>
        <p:spPr>
          <a:xfrm>
            <a:off x="548640" y="457200"/>
            <a:ext cx="992124" cy="292608"/>
          </a:xfrm>
          <a:prstGeom prst="roundRect">
            <a:avLst>
              <a:gd name="adj" fmla="val 50000"/>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457200"/>
            <a:ext cx="992124" cy="292608"/>
          </a:xfrm>
          <a:prstGeom prst="rect">
            <a:avLst/>
          </a:prstGeom>
          <a:noFill/>
        </p:spPr>
        <p:txBody>
          <a:bodyPr wrap="square" lIns="0" rIns="0" tIns="0" bIns="0" anchor="ctr">
            <a:noAutofit/>
          </a:bodyPr>
          <a:lstStyle/>
          <a:p>
            <a:pPr algn="ctr"/>
            <a:r>
              <a:rPr sz="1100" b="1">
                <a:solidFill>
                  <a:srgbClr val="F48AAA"/>
                </a:solidFill>
                <a:latin typeface="Segoe UI"/>
              </a:rPr>
              <a:t>Prototype</a:t>
            </a:r>
          </a:p>
        </p:txBody>
      </p:sp>
      <p:sp>
        <p:nvSpPr>
          <p:cNvPr id="5" name="Rounded Rectangle 4"/>
          <p:cNvSpPr/>
          <p:nvPr/>
        </p:nvSpPr>
        <p:spPr>
          <a:xfrm>
            <a:off x="5278831" y="1728216"/>
            <a:ext cx="6419088" cy="4053078"/>
          </a:xfrm>
          <a:prstGeom prst="roundRect">
            <a:avLst>
              <a:gd name="adj" fmla="val 2707"/>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05-binary.png"/>
          <p:cNvPicPr>
            <a:picLocks noChangeAspect="1"/>
          </p:cNvPicPr>
          <p:nvPr/>
        </p:nvPicPr>
        <p:blipFill>
          <a:blip r:embed="rId2"/>
          <a:srcRect/>
          <a:stretch>
            <a:fillRect/>
          </a:stretch>
        </p:blipFill>
        <p:spPr>
          <a:xfrm>
            <a:off x="5333695" y="1783080"/>
            <a:ext cx="6309360" cy="3943350"/>
          </a:xfrm>
          <a:prstGeom prst="rect">
            <a:avLst/>
          </a:prstGeom>
        </p:spPr>
      </p:pic>
      <p:sp>
        <p:nvSpPr>
          <p:cNvPr id="7" name="TextBox 6"/>
          <p:cNvSpPr txBox="1"/>
          <p:nvPr/>
        </p:nvSpPr>
        <p:spPr>
          <a:xfrm>
            <a:off x="548640" y="1783080"/>
            <a:ext cx="4236415" cy="548640"/>
          </a:xfrm>
          <a:prstGeom prst="rect">
            <a:avLst/>
          </a:prstGeom>
          <a:noFill/>
        </p:spPr>
        <p:txBody>
          <a:bodyPr wrap="square" lIns="0" rIns="0" tIns="0" bIns="0" anchor="t">
            <a:noAutofit/>
          </a:bodyPr>
          <a:lstStyle/>
          <a:p>
            <a:pPr algn="l"/>
            <a:r>
              <a:rPr sz="1500" b="0">
                <a:solidFill>
                  <a:srgbClr val="C7B9BF"/>
                </a:solidFill>
                <a:latin typeface="Segoe UI"/>
              </a:rPr>
              <a:t>Every button leads to the right screen, so the design can be tested like the real app.</a:t>
            </a:r>
          </a:p>
        </p:txBody>
      </p:sp>
      <p:sp>
        <p:nvSpPr>
          <p:cNvPr id="8" name="Oval 7"/>
          <p:cNvSpPr/>
          <p:nvPr/>
        </p:nvSpPr>
        <p:spPr>
          <a:xfrm>
            <a:off x="548640" y="2660904"/>
            <a:ext cx="292608" cy="292608"/>
          </a:xfrm>
          <a:prstGeom prst="ellipse">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660904"/>
            <a:ext cx="292608" cy="292608"/>
          </a:xfrm>
          <a:prstGeom prst="rect">
            <a:avLst/>
          </a:prstGeom>
          <a:noFill/>
        </p:spPr>
        <p:txBody>
          <a:bodyPr wrap="square" lIns="0" rIns="0" tIns="0" bIns="0" anchor="ctr">
            <a:noAutofit/>
          </a:bodyPr>
          <a:lstStyle/>
          <a:p>
            <a:pPr algn="ctr"/>
            <a:r>
              <a:rPr sz="1100" b="1">
                <a:solidFill>
                  <a:srgbClr val="F48AAA"/>
                </a:solidFill>
                <a:latin typeface="Segoe UI"/>
              </a:rPr>
              <a:t>1</a:t>
            </a:r>
          </a:p>
        </p:txBody>
      </p:sp>
      <p:sp>
        <p:nvSpPr>
          <p:cNvPr id="10" name="TextBox 9"/>
          <p:cNvSpPr txBox="1"/>
          <p:nvPr/>
        </p:nvSpPr>
        <p:spPr>
          <a:xfrm>
            <a:off x="987552" y="2606040"/>
            <a:ext cx="3797503" cy="402336"/>
          </a:xfrm>
          <a:prstGeom prst="rect">
            <a:avLst/>
          </a:prstGeom>
          <a:noFill/>
        </p:spPr>
        <p:txBody>
          <a:bodyPr wrap="square" lIns="0" rIns="0" tIns="0" bIns="0" anchor="ctr">
            <a:noAutofit/>
          </a:bodyPr>
          <a:lstStyle/>
          <a:p>
            <a:pPr algn="l"/>
            <a:r>
              <a:rPr sz="1400" b="0">
                <a:solidFill>
                  <a:srgbClr val="F5EDF0"/>
                </a:solidFill>
                <a:latin typeface="Segoe UI"/>
              </a:rPr>
              <a:t>Home  ›  Start level</a:t>
            </a:r>
          </a:p>
        </p:txBody>
      </p:sp>
      <p:sp>
        <p:nvSpPr>
          <p:cNvPr id="11" name="Oval 10"/>
          <p:cNvSpPr/>
          <p:nvPr/>
        </p:nvSpPr>
        <p:spPr>
          <a:xfrm>
            <a:off x="548640" y="3191256"/>
            <a:ext cx="292608" cy="292608"/>
          </a:xfrm>
          <a:prstGeom prst="ellipse">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3191256"/>
            <a:ext cx="292608" cy="292608"/>
          </a:xfrm>
          <a:prstGeom prst="rect">
            <a:avLst/>
          </a:prstGeom>
          <a:noFill/>
        </p:spPr>
        <p:txBody>
          <a:bodyPr wrap="square" lIns="0" rIns="0" tIns="0" bIns="0" anchor="ctr">
            <a:noAutofit/>
          </a:bodyPr>
          <a:lstStyle/>
          <a:p>
            <a:pPr algn="ctr"/>
            <a:r>
              <a:rPr sz="1100" b="1">
                <a:solidFill>
                  <a:srgbClr val="F48AAA"/>
                </a:solidFill>
                <a:latin typeface="Segoe UI"/>
              </a:rPr>
              <a:t>2</a:t>
            </a:r>
          </a:p>
        </p:txBody>
      </p:sp>
      <p:sp>
        <p:nvSpPr>
          <p:cNvPr id="13" name="TextBox 12"/>
          <p:cNvSpPr txBox="1"/>
          <p:nvPr/>
        </p:nvSpPr>
        <p:spPr>
          <a:xfrm>
            <a:off x="987552" y="3136392"/>
            <a:ext cx="3797503" cy="402336"/>
          </a:xfrm>
          <a:prstGeom prst="rect">
            <a:avLst/>
          </a:prstGeom>
          <a:noFill/>
        </p:spPr>
        <p:txBody>
          <a:bodyPr wrap="square" lIns="0" rIns="0" tIns="0" bIns="0" anchor="ctr">
            <a:noAutofit/>
          </a:bodyPr>
          <a:lstStyle/>
          <a:p>
            <a:pPr algn="l"/>
            <a:r>
              <a:rPr sz="1400" b="0">
                <a:solidFill>
                  <a:srgbClr val="F5EDF0"/>
                </a:solidFill>
                <a:latin typeface="Segoe UI"/>
              </a:rPr>
              <a:t>Binary Search  ›  Next lesson</a:t>
            </a:r>
          </a:p>
        </p:txBody>
      </p:sp>
      <p:sp>
        <p:nvSpPr>
          <p:cNvPr id="14" name="Oval 13"/>
          <p:cNvSpPr/>
          <p:nvPr/>
        </p:nvSpPr>
        <p:spPr>
          <a:xfrm>
            <a:off x="548640" y="3721607"/>
            <a:ext cx="292608" cy="292608"/>
          </a:xfrm>
          <a:prstGeom prst="ellipse">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3721607"/>
            <a:ext cx="292608" cy="292608"/>
          </a:xfrm>
          <a:prstGeom prst="rect">
            <a:avLst/>
          </a:prstGeom>
          <a:noFill/>
        </p:spPr>
        <p:txBody>
          <a:bodyPr wrap="square" lIns="0" rIns="0" tIns="0" bIns="0" anchor="ctr">
            <a:noAutofit/>
          </a:bodyPr>
          <a:lstStyle/>
          <a:p>
            <a:pPr algn="ctr"/>
            <a:r>
              <a:rPr sz="1100" b="1">
                <a:solidFill>
                  <a:srgbClr val="F48AAA"/>
                </a:solidFill>
                <a:latin typeface="Segoe UI"/>
              </a:rPr>
              <a:t>3</a:t>
            </a:r>
          </a:p>
        </p:txBody>
      </p:sp>
      <p:sp>
        <p:nvSpPr>
          <p:cNvPr id="16" name="TextBox 15"/>
          <p:cNvSpPr txBox="1"/>
          <p:nvPr/>
        </p:nvSpPr>
        <p:spPr>
          <a:xfrm>
            <a:off x="987552" y="3666744"/>
            <a:ext cx="3797503" cy="402336"/>
          </a:xfrm>
          <a:prstGeom prst="rect">
            <a:avLst/>
          </a:prstGeom>
          <a:noFill/>
        </p:spPr>
        <p:txBody>
          <a:bodyPr wrap="square" lIns="0" rIns="0" tIns="0" bIns="0" anchor="ctr">
            <a:noAutofit/>
          </a:bodyPr>
          <a:lstStyle/>
          <a:p>
            <a:pPr algn="l"/>
            <a:r>
              <a:rPr sz="1400" b="0">
                <a:solidFill>
                  <a:srgbClr val="F5EDF0"/>
                </a:solidFill>
                <a:latin typeface="Segoe UI"/>
              </a:rPr>
              <a:t>Merge Sort  ›  Start quiz</a:t>
            </a:r>
          </a:p>
        </p:txBody>
      </p:sp>
      <p:sp>
        <p:nvSpPr>
          <p:cNvPr id="17" name="Oval 16"/>
          <p:cNvSpPr/>
          <p:nvPr/>
        </p:nvSpPr>
        <p:spPr>
          <a:xfrm>
            <a:off x="548640" y="4251959"/>
            <a:ext cx="292608" cy="292608"/>
          </a:xfrm>
          <a:prstGeom prst="ellipse">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8640" y="4251959"/>
            <a:ext cx="292608" cy="292608"/>
          </a:xfrm>
          <a:prstGeom prst="rect">
            <a:avLst/>
          </a:prstGeom>
          <a:noFill/>
        </p:spPr>
        <p:txBody>
          <a:bodyPr wrap="square" lIns="0" rIns="0" tIns="0" bIns="0" anchor="ctr">
            <a:noAutofit/>
          </a:bodyPr>
          <a:lstStyle/>
          <a:p>
            <a:pPr algn="ctr"/>
            <a:r>
              <a:rPr sz="1100" b="1">
                <a:solidFill>
                  <a:srgbClr val="F48AAA"/>
                </a:solidFill>
                <a:latin typeface="Segoe UI"/>
              </a:rPr>
              <a:t>4</a:t>
            </a:r>
          </a:p>
        </p:txBody>
      </p:sp>
      <p:sp>
        <p:nvSpPr>
          <p:cNvPr id="19" name="TextBox 18"/>
          <p:cNvSpPr txBox="1"/>
          <p:nvPr/>
        </p:nvSpPr>
        <p:spPr>
          <a:xfrm>
            <a:off x="987552" y="4197096"/>
            <a:ext cx="3797503" cy="402336"/>
          </a:xfrm>
          <a:prstGeom prst="rect">
            <a:avLst/>
          </a:prstGeom>
          <a:noFill/>
        </p:spPr>
        <p:txBody>
          <a:bodyPr wrap="square" lIns="0" rIns="0" tIns="0" bIns="0" anchor="ctr">
            <a:noAutofit/>
          </a:bodyPr>
          <a:lstStyle/>
          <a:p>
            <a:pPr algn="l"/>
            <a:r>
              <a:rPr sz="1400" b="0">
                <a:solidFill>
                  <a:srgbClr val="F5EDF0"/>
                </a:solidFill>
                <a:latin typeface="Segoe UI"/>
              </a:rPr>
              <a:t>Check answer  ›  Next question</a:t>
            </a:r>
          </a:p>
        </p:txBody>
      </p:sp>
      <p:sp>
        <p:nvSpPr>
          <p:cNvPr id="20" name="Oval 19"/>
          <p:cNvSpPr/>
          <p:nvPr/>
        </p:nvSpPr>
        <p:spPr>
          <a:xfrm>
            <a:off x="548640" y="4782312"/>
            <a:ext cx="292608" cy="292608"/>
          </a:xfrm>
          <a:prstGeom prst="ellipse">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8640" y="4782312"/>
            <a:ext cx="292608" cy="292608"/>
          </a:xfrm>
          <a:prstGeom prst="rect">
            <a:avLst/>
          </a:prstGeom>
          <a:noFill/>
        </p:spPr>
        <p:txBody>
          <a:bodyPr wrap="square" lIns="0" rIns="0" tIns="0" bIns="0" anchor="ctr">
            <a:noAutofit/>
          </a:bodyPr>
          <a:lstStyle/>
          <a:p>
            <a:pPr algn="ctr"/>
            <a:r>
              <a:rPr sz="1100" b="1">
                <a:solidFill>
                  <a:srgbClr val="F48AAA"/>
                </a:solidFill>
                <a:latin typeface="Segoe UI"/>
              </a:rPr>
              <a:t>5</a:t>
            </a:r>
          </a:p>
        </p:txBody>
      </p:sp>
      <p:sp>
        <p:nvSpPr>
          <p:cNvPr id="22" name="TextBox 21"/>
          <p:cNvSpPr txBox="1"/>
          <p:nvPr/>
        </p:nvSpPr>
        <p:spPr>
          <a:xfrm>
            <a:off x="987552" y="4727448"/>
            <a:ext cx="3797503" cy="402336"/>
          </a:xfrm>
          <a:prstGeom prst="rect">
            <a:avLst/>
          </a:prstGeom>
          <a:noFill/>
        </p:spPr>
        <p:txBody>
          <a:bodyPr wrap="square" lIns="0" rIns="0" tIns="0" bIns="0" anchor="ctr">
            <a:noAutofit/>
          </a:bodyPr>
          <a:lstStyle/>
          <a:p>
            <a:pPr algn="l"/>
            <a:r>
              <a:rPr sz="1400" b="0">
                <a:solidFill>
                  <a:srgbClr val="F5EDF0"/>
                </a:solidFill>
                <a:latin typeface="Segoe UI"/>
              </a:rPr>
              <a:t>Results  ›  Continue</a:t>
            </a:r>
          </a:p>
        </p:txBody>
      </p:sp>
      <p:sp>
        <p:nvSpPr>
          <p:cNvPr id="23" name="Rounded Rectangle 22">
            <a:hlinkClick r:id="rId3"/>
          </p:cNvPr>
          <p:cNvSpPr/>
          <p:nvPr/>
        </p:nvSpPr>
        <p:spPr>
          <a:xfrm>
            <a:off x="548640" y="5440680"/>
            <a:ext cx="4236415" cy="566928"/>
          </a:xfrm>
          <a:prstGeom prst="roundRect">
            <a:avLst>
              <a:gd name="adj" fmla="val 19354"/>
            </a:avLst>
          </a:prstGeom>
          <a:solidFill>
            <a:srgbClr val="C2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a:hlinkClick r:id="rId3"/>
          </p:cNvPr>
          <p:cNvSpPr txBox="1"/>
          <p:nvPr/>
        </p:nvSpPr>
        <p:spPr>
          <a:xfrm>
            <a:off x="548640" y="5440680"/>
            <a:ext cx="4236415" cy="566928"/>
          </a:xfrm>
          <a:prstGeom prst="rect">
            <a:avLst/>
          </a:prstGeom>
          <a:noFill/>
        </p:spPr>
        <p:txBody>
          <a:bodyPr wrap="square" lIns="0" rIns="0" tIns="0" bIns="0" anchor="ctr">
            <a:noAutofit/>
          </a:bodyPr>
          <a:lstStyle/>
          <a:p>
            <a:pPr algn="ctr"/>
            <a:r>
              <a:rPr sz="1500" b="1" u="none">
                <a:solidFill>
                  <a:srgbClr val="FFFFFF"/>
                </a:solidFill>
                <a:latin typeface="Segoe UI"/>
                <a:hlinkClick r:id="rId3"/>
              </a:rPr>
              <a:t>Open the prototype  ›</a:t>
            </a:r>
          </a:p>
        </p:txBody>
      </p:sp>
      <p:sp>
        <p:nvSpPr>
          <p:cNvPr id="25" name="TextBox 24"/>
          <p:cNvSpPr txBox="1"/>
          <p:nvPr/>
        </p:nvSpPr>
        <p:spPr>
          <a:xfrm>
            <a:off x="548640" y="6382512"/>
            <a:ext cx="5486400" cy="274320"/>
          </a:xfrm>
          <a:prstGeom prst="rect">
            <a:avLst/>
          </a:prstGeom>
          <a:noFill/>
        </p:spPr>
        <p:txBody>
          <a:bodyPr wrap="square" lIns="0" rIns="0" tIns="0" bIns="0" anchor="t">
            <a:noAutofit/>
          </a:bodyPr>
          <a:lstStyle/>
          <a:p>
            <a:pPr algn="l"/>
            <a:r>
              <a:rPr sz="1000" b="0">
                <a:solidFill>
                  <a:srgbClr val="A3959B"/>
                </a:solidFill>
                <a:latin typeface="Segoe UI"/>
              </a:rPr>
              <a:t>AlgoLearn  ·  SD Squad</a:t>
            </a:r>
          </a:p>
        </p:txBody>
      </p:sp>
      <p:sp>
        <p:nvSpPr>
          <p:cNvPr id="26" name="TextBox 25"/>
          <p:cNvSpPr txBox="1"/>
          <p:nvPr/>
        </p:nvSpPr>
        <p:spPr>
          <a:xfrm>
            <a:off x="10728655" y="6382512"/>
            <a:ext cx="914400" cy="274320"/>
          </a:xfrm>
          <a:prstGeom prst="rect">
            <a:avLst/>
          </a:prstGeom>
          <a:noFill/>
        </p:spPr>
        <p:txBody>
          <a:bodyPr wrap="square" lIns="0" rIns="0" tIns="0" bIns="0" anchor="t">
            <a:noAutofit/>
          </a:bodyPr>
          <a:lstStyle/>
          <a:p>
            <a:pPr algn="r"/>
            <a:r>
              <a:rPr sz="1000" b="0">
                <a:solidFill>
                  <a:srgbClr val="A3959B"/>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0E10"/>
        </a:solidFill>
        <a:effectLst/>
      </p:bgPr>
    </p:bg>
    <p:spTree>
      <p:nvGrpSpPr>
        <p:cNvPr id="1" name=""/>
        <p:cNvGrpSpPr/>
        <p:nvPr/>
      </p:nvGrpSpPr>
      <p:grpSpPr/>
      <p:sp>
        <p:nvSpPr>
          <p:cNvPr id="2" name="Title 1"/>
          <p:cNvSpPr>
            <a:spLocks noGrp="1"/>
          </p:cNvSpPr>
          <p:nvPr>
            <p:ph type="title"/>
          </p:nvPr>
        </p:nvSpPr>
        <p:spPr>
          <a:xfrm>
            <a:off x="548640" y="841248"/>
            <a:ext cx="11094415" cy="685800"/>
          </a:xfrm>
        </p:spPr>
        <p:txBody>
          <a:bodyPr wrap="square" lIns="0" rIns="0" tIns="0" bIns="0" anchor="t">
            <a:noAutofit/>
          </a:bodyPr>
          <a:lstStyle/>
          <a:p>
            <a:pPr algn="l"/>
            <a:r>
              <a:rPr sz="3000" b="1">
                <a:solidFill>
                  <a:srgbClr val="F5EDF0"/>
                </a:solidFill>
                <a:latin typeface="Segoe UI"/>
              </a:rPr>
              <a:t>Phase 2: building the real app in Java</a:t>
            </a:r>
          </a:p>
        </p:txBody>
      </p:sp>
      <p:sp>
        <p:nvSpPr>
          <p:cNvPr id="3" name="Rounded Rectangle 2"/>
          <p:cNvSpPr/>
          <p:nvPr/>
        </p:nvSpPr>
        <p:spPr>
          <a:xfrm>
            <a:off x="548640" y="457200"/>
            <a:ext cx="1069848" cy="292608"/>
          </a:xfrm>
          <a:prstGeom prst="roundRect">
            <a:avLst>
              <a:gd name="adj" fmla="val 50000"/>
            </a:avLst>
          </a:prstGeom>
          <a:solidFill>
            <a:srgbClr val="3A1E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457200"/>
            <a:ext cx="1069848" cy="292608"/>
          </a:xfrm>
          <a:prstGeom prst="rect">
            <a:avLst/>
          </a:prstGeom>
          <a:noFill/>
        </p:spPr>
        <p:txBody>
          <a:bodyPr wrap="square" lIns="0" rIns="0" tIns="0" bIns="0" anchor="ctr">
            <a:noAutofit/>
          </a:bodyPr>
          <a:lstStyle/>
          <a:p>
            <a:pPr algn="ctr"/>
            <a:r>
              <a:rPr sz="1100" b="1">
                <a:solidFill>
                  <a:srgbClr val="F48AAA"/>
                </a:solidFill>
                <a:latin typeface="Segoe UI"/>
              </a:rPr>
              <a:t>Next steps</a:t>
            </a:r>
          </a:p>
        </p:txBody>
      </p:sp>
      <p:sp>
        <p:nvSpPr>
          <p:cNvPr id="5" name="TextBox 4"/>
          <p:cNvSpPr txBox="1"/>
          <p:nvPr/>
        </p:nvSpPr>
        <p:spPr>
          <a:xfrm>
            <a:off x="548640" y="1691640"/>
            <a:ext cx="4754880" cy="1097280"/>
          </a:xfrm>
          <a:prstGeom prst="rect">
            <a:avLst/>
          </a:prstGeom>
          <a:noFill/>
        </p:spPr>
        <p:txBody>
          <a:bodyPr wrap="square" lIns="0" rIns="0" tIns="0" bIns="0" anchor="t">
            <a:noAutofit/>
          </a:bodyPr>
          <a:lstStyle/>
          <a:p>
            <a:pPr algn="l"/>
            <a:r>
              <a:rPr sz="1500" b="0">
                <a:solidFill>
                  <a:srgbClr val="C7B9BF"/>
                </a:solidFill>
                <a:latin typeface="Segoe UI"/>
              </a:rPr>
              <a:t>We turn this design into a working desktop app. Each member builds one part and tests it.</a:t>
            </a:r>
          </a:p>
        </p:txBody>
      </p:sp>
      <p:sp>
        <p:nvSpPr>
          <p:cNvPr id="6" name="Rounded Rectangle 5"/>
          <p:cNvSpPr/>
          <p:nvPr/>
        </p:nvSpPr>
        <p:spPr>
          <a:xfrm>
            <a:off x="548640" y="2880360"/>
            <a:ext cx="886136" cy="347472"/>
          </a:xfrm>
          <a:prstGeom prst="roundRect">
            <a:avLst>
              <a:gd name="adj" fmla="val 50000"/>
            </a:avLst>
          </a:prstGeom>
          <a:solidFill>
            <a:srgbClr val="2A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2880360"/>
            <a:ext cx="886136" cy="347472"/>
          </a:xfrm>
          <a:prstGeom prst="rect">
            <a:avLst/>
          </a:prstGeom>
          <a:noFill/>
        </p:spPr>
        <p:txBody>
          <a:bodyPr wrap="square" lIns="0" rIns="0" tIns="0" bIns="0" anchor="ctr">
            <a:noAutofit/>
          </a:bodyPr>
          <a:lstStyle/>
          <a:p>
            <a:pPr algn="ctr"/>
            <a:r>
              <a:rPr sz="1200" b="1">
                <a:solidFill>
                  <a:srgbClr val="F5EDF0"/>
                </a:solidFill>
                <a:latin typeface="Segoe UI"/>
              </a:rPr>
              <a:t>Java 21</a:t>
            </a:r>
          </a:p>
        </p:txBody>
      </p:sp>
      <p:sp>
        <p:nvSpPr>
          <p:cNvPr id="8" name="Rounded Rectangle 7"/>
          <p:cNvSpPr/>
          <p:nvPr/>
        </p:nvSpPr>
        <p:spPr>
          <a:xfrm>
            <a:off x="1571936" y="2880360"/>
            <a:ext cx="801346" cy="347472"/>
          </a:xfrm>
          <a:prstGeom prst="roundRect">
            <a:avLst>
              <a:gd name="adj" fmla="val 50000"/>
            </a:avLst>
          </a:prstGeom>
          <a:solidFill>
            <a:srgbClr val="2A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571936" y="2880360"/>
            <a:ext cx="801346" cy="347472"/>
          </a:xfrm>
          <a:prstGeom prst="rect">
            <a:avLst/>
          </a:prstGeom>
          <a:noFill/>
        </p:spPr>
        <p:txBody>
          <a:bodyPr wrap="square" lIns="0" rIns="0" tIns="0" bIns="0" anchor="ctr">
            <a:noAutofit/>
          </a:bodyPr>
          <a:lstStyle/>
          <a:p>
            <a:pPr algn="ctr"/>
            <a:r>
              <a:rPr sz="1200" b="1">
                <a:solidFill>
                  <a:srgbClr val="F5EDF0"/>
                </a:solidFill>
                <a:latin typeface="Segoe UI"/>
              </a:rPr>
              <a:t>JavaFX</a:t>
            </a:r>
          </a:p>
        </p:txBody>
      </p:sp>
      <p:sp>
        <p:nvSpPr>
          <p:cNvPr id="10" name="Rounded Rectangle 9"/>
          <p:cNvSpPr/>
          <p:nvPr/>
        </p:nvSpPr>
        <p:spPr>
          <a:xfrm>
            <a:off x="2510443" y="2880360"/>
            <a:ext cx="716557" cy="347472"/>
          </a:xfrm>
          <a:prstGeom prst="roundRect">
            <a:avLst>
              <a:gd name="adj" fmla="val 50000"/>
            </a:avLst>
          </a:prstGeom>
          <a:solidFill>
            <a:srgbClr val="2A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10443" y="2880360"/>
            <a:ext cx="716557" cy="347472"/>
          </a:xfrm>
          <a:prstGeom prst="rect">
            <a:avLst/>
          </a:prstGeom>
          <a:noFill/>
        </p:spPr>
        <p:txBody>
          <a:bodyPr wrap="square" lIns="0" rIns="0" tIns="0" bIns="0" anchor="ctr">
            <a:noAutofit/>
          </a:bodyPr>
          <a:lstStyle/>
          <a:p>
            <a:pPr algn="ctr"/>
            <a:r>
              <a:rPr sz="1200" b="1">
                <a:solidFill>
                  <a:srgbClr val="F5EDF0"/>
                </a:solidFill>
                <a:latin typeface="Segoe UI"/>
              </a:rPr>
              <a:t>Maven</a:t>
            </a:r>
          </a:p>
        </p:txBody>
      </p:sp>
      <p:sp>
        <p:nvSpPr>
          <p:cNvPr id="12" name="Rounded Rectangle 11"/>
          <p:cNvSpPr/>
          <p:nvPr/>
        </p:nvSpPr>
        <p:spPr>
          <a:xfrm>
            <a:off x="3364160" y="2880360"/>
            <a:ext cx="1225296" cy="347472"/>
          </a:xfrm>
          <a:prstGeom prst="roundRect">
            <a:avLst>
              <a:gd name="adj" fmla="val 50000"/>
            </a:avLst>
          </a:prstGeom>
          <a:solidFill>
            <a:srgbClr val="2A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364160" y="2880360"/>
            <a:ext cx="1225296" cy="347472"/>
          </a:xfrm>
          <a:prstGeom prst="rect">
            <a:avLst/>
          </a:prstGeom>
          <a:noFill/>
        </p:spPr>
        <p:txBody>
          <a:bodyPr wrap="square" lIns="0" rIns="0" tIns="0" bIns="0" anchor="ctr">
            <a:noAutofit/>
          </a:bodyPr>
          <a:lstStyle/>
          <a:p>
            <a:pPr algn="ctr"/>
            <a:r>
              <a:rPr sz="1200" b="1">
                <a:solidFill>
                  <a:srgbClr val="F5EDF0"/>
                </a:solidFill>
                <a:latin typeface="Segoe UI"/>
              </a:rPr>
              <a:t>JUnit tests</a:t>
            </a:r>
          </a:p>
        </p:txBody>
      </p:sp>
      <p:sp>
        <p:nvSpPr>
          <p:cNvPr id="14" name="Rounded Rectangle 13"/>
          <p:cNvSpPr/>
          <p:nvPr/>
        </p:nvSpPr>
        <p:spPr>
          <a:xfrm>
            <a:off x="548640" y="3657600"/>
            <a:ext cx="4754880" cy="2423160"/>
          </a:xfrm>
          <a:prstGeom prst="roundRect">
            <a:avLst>
              <a:gd name="adj" fmla="val 4528"/>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59" y="3886200"/>
            <a:ext cx="3291840" cy="365760"/>
          </a:xfrm>
          <a:prstGeom prst="rect">
            <a:avLst/>
          </a:prstGeom>
          <a:noFill/>
        </p:spPr>
        <p:txBody>
          <a:bodyPr wrap="square" lIns="0" rIns="0" tIns="0" bIns="0" anchor="t">
            <a:noAutofit/>
          </a:bodyPr>
          <a:lstStyle/>
          <a:p>
            <a:pPr algn="l"/>
            <a:r>
              <a:rPr sz="1500" b="1">
                <a:solidFill>
                  <a:srgbClr val="F5EDF0"/>
                </a:solidFill>
                <a:latin typeface="Segoe UI"/>
              </a:rPr>
              <a:t>Phase 1</a:t>
            </a:r>
          </a:p>
        </p:txBody>
      </p:sp>
      <p:sp>
        <p:nvSpPr>
          <p:cNvPr id="16" name="TextBox 15"/>
          <p:cNvSpPr txBox="1"/>
          <p:nvPr/>
        </p:nvSpPr>
        <p:spPr>
          <a:xfrm>
            <a:off x="822959" y="4251960"/>
            <a:ext cx="3566160" cy="640080"/>
          </a:xfrm>
          <a:prstGeom prst="rect">
            <a:avLst/>
          </a:prstGeom>
          <a:noFill/>
        </p:spPr>
        <p:txBody>
          <a:bodyPr wrap="square" lIns="0" rIns="0" tIns="0" bIns="0" anchor="t">
            <a:noAutofit/>
          </a:bodyPr>
          <a:lstStyle/>
          <a:p>
            <a:pPr algn="l"/>
            <a:r>
              <a:rPr sz="1300" b="0">
                <a:solidFill>
                  <a:srgbClr val="A3959B"/>
                </a:solidFill>
                <a:latin typeface="Segoe UI"/>
              </a:rPr>
              <a:t>Design, lessons and quiz questions</a:t>
            </a:r>
          </a:p>
        </p:txBody>
      </p:sp>
      <p:sp>
        <p:nvSpPr>
          <p:cNvPr id="17" name="Rounded Rectangle 16"/>
          <p:cNvSpPr/>
          <p:nvPr/>
        </p:nvSpPr>
        <p:spPr>
          <a:xfrm>
            <a:off x="4425696" y="3904487"/>
            <a:ext cx="603504" cy="292608"/>
          </a:xfrm>
          <a:prstGeom prst="roundRect">
            <a:avLst>
              <a:gd name="adj" fmla="val 50000"/>
            </a:avLst>
          </a:prstGeom>
          <a:solidFill>
            <a:srgbClr val="173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425696" y="3904487"/>
            <a:ext cx="603504" cy="292608"/>
          </a:xfrm>
          <a:prstGeom prst="rect">
            <a:avLst/>
          </a:prstGeom>
          <a:noFill/>
        </p:spPr>
        <p:txBody>
          <a:bodyPr wrap="square" lIns="0" rIns="0" tIns="0" bIns="0" anchor="ctr">
            <a:noAutofit/>
          </a:bodyPr>
          <a:lstStyle/>
          <a:p>
            <a:pPr algn="ctr"/>
            <a:r>
              <a:rPr sz="1100" b="1">
                <a:solidFill>
                  <a:srgbClr val="4CC38A"/>
                </a:solidFill>
                <a:latin typeface="Segoe UI"/>
              </a:rPr>
              <a:t>Done</a:t>
            </a:r>
          </a:p>
        </p:txBody>
      </p:sp>
      <p:sp>
        <p:nvSpPr>
          <p:cNvPr id="19" name="TextBox 18"/>
          <p:cNvSpPr txBox="1"/>
          <p:nvPr/>
        </p:nvSpPr>
        <p:spPr>
          <a:xfrm>
            <a:off x="822959" y="4983480"/>
            <a:ext cx="3291840" cy="365760"/>
          </a:xfrm>
          <a:prstGeom prst="rect">
            <a:avLst/>
          </a:prstGeom>
          <a:noFill/>
        </p:spPr>
        <p:txBody>
          <a:bodyPr wrap="square" lIns="0" rIns="0" tIns="0" bIns="0" anchor="t">
            <a:noAutofit/>
          </a:bodyPr>
          <a:lstStyle/>
          <a:p>
            <a:pPr algn="l"/>
            <a:r>
              <a:rPr sz="1500" b="1">
                <a:solidFill>
                  <a:srgbClr val="F5EDF0"/>
                </a:solidFill>
                <a:latin typeface="Segoe UI"/>
              </a:rPr>
              <a:t>Phase 2</a:t>
            </a:r>
          </a:p>
        </p:txBody>
      </p:sp>
      <p:sp>
        <p:nvSpPr>
          <p:cNvPr id="20" name="TextBox 19"/>
          <p:cNvSpPr txBox="1"/>
          <p:nvPr/>
        </p:nvSpPr>
        <p:spPr>
          <a:xfrm>
            <a:off x="822959" y="5349240"/>
            <a:ext cx="3566160" cy="640080"/>
          </a:xfrm>
          <a:prstGeom prst="rect">
            <a:avLst/>
          </a:prstGeom>
          <a:noFill/>
        </p:spPr>
        <p:txBody>
          <a:bodyPr wrap="square" lIns="0" rIns="0" tIns="0" bIns="0" anchor="t">
            <a:noAutofit/>
          </a:bodyPr>
          <a:lstStyle/>
          <a:p>
            <a:pPr algn="l"/>
            <a:r>
              <a:rPr sz="1300" b="0">
                <a:solidFill>
                  <a:srgbClr val="A3959B"/>
                </a:solidFill>
                <a:latin typeface="Segoe UI"/>
              </a:rPr>
              <a:t>Working Java app, shown in our second presentation</a:t>
            </a:r>
          </a:p>
        </p:txBody>
      </p:sp>
      <p:sp>
        <p:nvSpPr>
          <p:cNvPr id="21" name="Rounded Rectangle 20"/>
          <p:cNvSpPr/>
          <p:nvPr/>
        </p:nvSpPr>
        <p:spPr>
          <a:xfrm>
            <a:off x="4425696" y="5001768"/>
            <a:ext cx="603504" cy="292608"/>
          </a:xfrm>
          <a:prstGeom prst="roundRect">
            <a:avLst>
              <a:gd name="adj" fmla="val 50000"/>
            </a:avLst>
          </a:prstGeom>
          <a:solidFill>
            <a:srgbClr val="382B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425696" y="5001768"/>
            <a:ext cx="603504" cy="292608"/>
          </a:xfrm>
          <a:prstGeom prst="rect">
            <a:avLst/>
          </a:prstGeom>
          <a:noFill/>
        </p:spPr>
        <p:txBody>
          <a:bodyPr wrap="square" lIns="0" rIns="0" tIns="0" bIns="0" anchor="ctr">
            <a:noAutofit/>
          </a:bodyPr>
          <a:lstStyle/>
          <a:p>
            <a:pPr algn="ctr"/>
            <a:r>
              <a:rPr sz="1100" b="1">
                <a:solidFill>
                  <a:srgbClr val="E3A63F"/>
                </a:solidFill>
                <a:latin typeface="Segoe UI"/>
              </a:rPr>
              <a:t>Next</a:t>
            </a:r>
          </a:p>
        </p:txBody>
      </p:sp>
      <p:sp>
        <p:nvSpPr>
          <p:cNvPr id="23" name="Rounded Rectangle 22"/>
          <p:cNvSpPr/>
          <p:nvPr/>
        </p:nvSpPr>
        <p:spPr>
          <a:xfrm>
            <a:off x="5806440" y="1783080"/>
            <a:ext cx="5836615" cy="914400"/>
          </a:xfrm>
          <a:prstGeom prst="roundRect">
            <a:avLst>
              <a:gd name="adj" fmla="val 12000"/>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035040" y="1984248"/>
            <a:ext cx="512064" cy="512064"/>
          </a:xfrm>
          <a:prstGeom prst="ellipse">
            <a:avLst/>
          </a:prstGeom>
          <a:solidFill>
            <a:srgbClr val="C2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035040" y="1984248"/>
            <a:ext cx="512064" cy="512064"/>
          </a:xfrm>
          <a:prstGeom prst="rect">
            <a:avLst/>
          </a:prstGeom>
          <a:noFill/>
        </p:spPr>
        <p:txBody>
          <a:bodyPr wrap="square" lIns="0" rIns="0" tIns="0" bIns="0" anchor="ctr">
            <a:noAutofit/>
          </a:bodyPr>
          <a:lstStyle/>
          <a:p>
            <a:pPr algn="ctr"/>
            <a:r>
              <a:rPr sz="1700" b="1">
                <a:solidFill>
                  <a:srgbClr val="FFFFFF"/>
                </a:solidFill>
                <a:latin typeface="Segoe UI"/>
              </a:rPr>
              <a:t>T</a:t>
            </a:r>
          </a:p>
        </p:txBody>
      </p:sp>
      <p:sp>
        <p:nvSpPr>
          <p:cNvPr id="26" name="TextBox 25"/>
          <p:cNvSpPr txBox="1"/>
          <p:nvPr/>
        </p:nvSpPr>
        <p:spPr>
          <a:xfrm>
            <a:off x="6766559" y="1892807"/>
            <a:ext cx="4647895" cy="347472"/>
          </a:xfrm>
          <a:prstGeom prst="rect">
            <a:avLst/>
          </a:prstGeom>
          <a:noFill/>
        </p:spPr>
        <p:txBody>
          <a:bodyPr wrap="square" lIns="0" rIns="0" tIns="0" bIns="0" anchor="t">
            <a:noAutofit/>
          </a:bodyPr>
          <a:lstStyle/>
          <a:p>
            <a:pPr algn="l"/>
            <a:r>
              <a:rPr sz="1500" b="1">
                <a:solidFill>
                  <a:srgbClr val="F5EDF0"/>
                </a:solidFill>
                <a:latin typeface="Segoe UI"/>
              </a:rPr>
              <a:t>Toumani</a:t>
            </a:r>
          </a:p>
        </p:txBody>
      </p:sp>
      <p:sp>
        <p:nvSpPr>
          <p:cNvPr id="27" name="TextBox 26"/>
          <p:cNvSpPr txBox="1"/>
          <p:nvPr/>
        </p:nvSpPr>
        <p:spPr>
          <a:xfrm>
            <a:off x="6766559" y="2240280"/>
            <a:ext cx="4647895" cy="365760"/>
          </a:xfrm>
          <a:prstGeom prst="rect">
            <a:avLst/>
          </a:prstGeom>
          <a:noFill/>
        </p:spPr>
        <p:txBody>
          <a:bodyPr wrap="square" lIns="0" rIns="0" tIns="0" bIns="0" anchor="t">
            <a:noAutofit/>
          </a:bodyPr>
          <a:lstStyle/>
          <a:p>
            <a:pPr algn="l"/>
            <a:r>
              <a:rPr sz="1300" b="0">
                <a:solidFill>
                  <a:srgbClr val="A3959B"/>
                </a:solidFill>
                <a:latin typeface="Segoe UI"/>
              </a:rPr>
              <a:t>App structure, navigation, home screen and visual style</a:t>
            </a:r>
          </a:p>
        </p:txBody>
      </p:sp>
      <p:sp>
        <p:nvSpPr>
          <p:cNvPr id="28" name="Rounded Rectangle 27"/>
          <p:cNvSpPr/>
          <p:nvPr/>
        </p:nvSpPr>
        <p:spPr>
          <a:xfrm>
            <a:off x="5806440" y="2862072"/>
            <a:ext cx="5836615" cy="914400"/>
          </a:xfrm>
          <a:prstGeom prst="roundRect">
            <a:avLst>
              <a:gd name="adj" fmla="val 12000"/>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035040" y="3063240"/>
            <a:ext cx="512064" cy="512064"/>
          </a:xfrm>
          <a:prstGeom prst="ellipse">
            <a:avLst/>
          </a:prstGeom>
          <a:solidFill>
            <a:srgbClr val="4CC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035040" y="3063240"/>
            <a:ext cx="512064" cy="512064"/>
          </a:xfrm>
          <a:prstGeom prst="rect">
            <a:avLst/>
          </a:prstGeom>
          <a:noFill/>
        </p:spPr>
        <p:txBody>
          <a:bodyPr wrap="square" lIns="0" rIns="0" tIns="0" bIns="0" anchor="ctr">
            <a:noAutofit/>
          </a:bodyPr>
          <a:lstStyle/>
          <a:p>
            <a:pPr algn="ctr"/>
            <a:r>
              <a:rPr sz="1700" b="1">
                <a:solidFill>
                  <a:srgbClr val="120E10"/>
                </a:solidFill>
                <a:latin typeface="Segoe UI"/>
              </a:rPr>
              <a:t>S</a:t>
            </a:r>
          </a:p>
        </p:txBody>
      </p:sp>
      <p:sp>
        <p:nvSpPr>
          <p:cNvPr id="31" name="TextBox 30"/>
          <p:cNvSpPr txBox="1"/>
          <p:nvPr/>
        </p:nvSpPr>
        <p:spPr>
          <a:xfrm>
            <a:off x="6766559" y="2971800"/>
            <a:ext cx="4647895" cy="347472"/>
          </a:xfrm>
          <a:prstGeom prst="rect">
            <a:avLst/>
          </a:prstGeom>
          <a:noFill/>
        </p:spPr>
        <p:txBody>
          <a:bodyPr wrap="square" lIns="0" rIns="0" tIns="0" bIns="0" anchor="t">
            <a:noAutofit/>
          </a:bodyPr>
          <a:lstStyle/>
          <a:p>
            <a:pPr algn="l"/>
            <a:r>
              <a:rPr sz="1500" b="1">
                <a:solidFill>
                  <a:srgbClr val="F5EDF0"/>
                </a:solidFill>
                <a:latin typeface="Segoe UI"/>
              </a:rPr>
              <a:t>Solaiman</a:t>
            </a:r>
          </a:p>
        </p:txBody>
      </p:sp>
      <p:sp>
        <p:nvSpPr>
          <p:cNvPr id="32" name="TextBox 31"/>
          <p:cNvSpPr txBox="1"/>
          <p:nvPr/>
        </p:nvSpPr>
        <p:spPr>
          <a:xfrm>
            <a:off x="6766559" y="3319272"/>
            <a:ext cx="4647895" cy="365760"/>
          </a:xfrm>
          <a:prstGeom prst="rect">
            <a:avLst/>
          </a:prstGeom>
          <a:noFill/>
        </p:spPr>
        <p:txBody>
          <a:bodyPr wrap="square" lIns="0" rIns="0" tIns="0" bIns="0" anchor="t">
            <a:noAutofit/>
          </a:bodyPr>
          <a:lstStyle/>
          <a:p>
            <a:pPr algn="l"/>
            <a:r>
              <a:rPr sz="1300" b="0">
                <a:solidFill>
                  <a:srgbClr val="A3959B"/>
                </a:solidFill>
                <a:latin typeface="Segoe UI"/>
              </a:rPr>
              <a:t>Easy level and the quiz engine</a:t>
            </a:r>
          </a:p>
        </p:txBody>
      </p:sp>
      <p:sp>
        <p:nvSpPr>
          <p:cNvPr id="33" name="Rounded Rectangle 32"/>
          <p:cNvSpPr/>
          <p:nvPr/>
        </p:nvSpPr>
        <p:spPr>
          <a:xfrm>
            <a:off x="5806440" y="3941063"/>
            <a:ext cx="5836615" cy="914400"/>
          </a:xfrm>
          <a:prstGeom prst="roundRect">
            <a:avLst>
              <a:gd name="adj" fmla="val 12000"/>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035040" y="4142231"/>
            <a:ext cx="512064" cy="512064"/>
          </a:xfrm>
          <a:prstGeom prst="ellipse">
            <a:avLst/>
          </a:prstGeom>
          <a:solidFill>
            <a:srgbClr val="E3A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035040" y="4142231"/>
            <a:ext cx="512064" cy="512064"/>
          </a:xfrm>
          <a:prstGeom prst="rect">
            <a:avLst/>
          </a:prstGeom>
          <a:noFill/>
        </p:spPr>
        <p:txBody>
          <a:bodyPr wrap="square" lIns="0" rIns="0" tIns="0" bIns="0" anchor="ctr">
            <a:noAutofit/>
          </a:bodyPr>
          <a:lstStyle/>
          <a:p>
            <a:pPr algn="ctr"/>
            <a:r>
              <a:rPr sz="1700" b="1">
                <a:solidFill>
                  <a:srgbClr val="120E10"/>
                </a:solidFill>
                <a:latin typeface="Segoe UI"/>
              </a:rPr>
              <a:t>Y</a:t>
            </a:r>
          </a:p>
        </p:txBody>
      </p:sp>
      <p:sp>
        <p:nvSpPr>
          <p:cNvPr id="36" name="TextBox 35"/>
          <p:cNvSpPr txBox="1"/>
          <p:nvPr/>
        </p:nvSpPr>
        <p:spPr>
          <a:xfrm>
            <a:off x="6766559" y="4050791"/>
            <a:ext cx="4647895" cy="347472"/>
          </a:xfrm>
          <a:prstGeom prst="rect">
            <a:avLst/>
          </a:prstGeom>
          <a:noFill/>
        </p:spPr>
        <p:txBody>
          <a:bodyPr wrap="square" lIns="0" rIns="0" tIns="0" bIns="0" anchor="t">
            <a:noAutofit/>
          </a:bodyPr>
          <a:lstStyle/>
          <a:p>
            <a:pPr algn="l"/>
            <a:r>
              <a:rPr sz="1500" b="1">
                <a:solidFill>
                  <a:srgbClr val="F5EDF0"/>
                </a:solidFill>
                <a:latin typeface="Segoe UI"/>
              </a:rPr>
              <a:t>Youssef</a:t>
            </a:r>
          </a:p>
        </p:txBody>
      </p:sp>
      <p:sp>
        <p:nvSpPr>
          <p:cNvPr id="37" name="TextBox 36"/>
          <p:cNvSpPr txBox="1"/>
          <p:nvPr/>
        </p:nvSpPr>
        <p:spPr>
          <a:xfrm>
            <a:off x="6766559" y="4398264"/>
            <a:ext cx="4647895" cy="365760"/>
          </a:xfrm>
          <a:prstGeom prst="rect">
            <a:avLst/>
          </a:prstGeom>
          <a:noFill/>
        </p:spPr>
        <p:txBody>
          <a:bodyPr wrap="square" lIns="0" rIns="0" tIns="0" bIns="0" anchor="t">
            <a:noAutofit/>
          </a:bodyPr>
          <a:lstStyle/>
          <a:p>
            <a:pPr algn="l"/>
            <a:r>
              <a:rPr sz="1300" b="0">
                <a:solidFill>
                  <a:srgbClr val="A3959B"/>
                </a:solidFill>
                <a:latin typeface="Segoe UI"/>
              </a:rPr>
              <a:t>Intermediate level and saving progress</a:t>
            </a:r>
          </a:p>
        </p:txBody>
      </p:sp>
      <p:sp>
        <p:nvSpPr>
          <p:cNvPr id="38" name="Rounded Rectangle 37"/>
          <p:cNvSpPr/>
          <p:nvPr/>
        </p:nvSpPr>
        <p:spPr>
          <a:xfrm>
            <a:off x="5806440" y="5020056"/>
            <a:ext cx="5836615" cy="914400"/>
          </a:xfrm>
          <a:prstGeom prst="roundRect">
            <a:avLst>
              <a:gd name="adj" fmla="val 12000"/>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035040" y="5221224"/>
            <a:ext cx="512064" cy="512064"/>
          </a:xfrm>
          <a:prstGeom prst="ellipse">
            <a:avLst/>
          </a:prstGeom>
          <a:solidFill>
            <a:srgbClr val="A08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035040" y="5221224"/>
            <a:ext cx="512064" cy="512064"/>
          </a:xfrm>
          <a:prstGeom prst="rect">
            <a:avLst/>
          </a:prstGeom>
          <a:noFill/>
        </p:spPr>
        <p:txBody>
          <a:bodyPr wrap="square" lIns="0" rIns="0" tIns="0" bIns="0" anchor="ctr">
            <a:noAutofit/>
          </a:bodyPr>
          <a:lstStyle/>
          <a:p>
            <a:pPr algn="ctr"/>
            <a:r>
              <a:rPr sz="1700" b="1">
                <a:solidFill>
                  <a:srgbClr val="120E10"/>
                </a:solidFill>
                <a:latin typeface="Segoe UI"/>
              </a:rPr>
              <a:t>F</a:t>
            </a:r>
          </a:p>
        </p:txBody>
      </p:sp>
      <p:sp>
        <p:nvSpPr>
          <p:cNvPr id="41" name="TextBox 40"/>
          <p:cNvSpPr txBox="1"/>
          <p:nvPr/>
        </p:nvSpPr>
        <p:spPr>
          <a:xfrm>
            <a:off x="6766559" y="5129784"/>
            <a:ext cx="4647895" cy="347472"/>
          </a:xfrm>
          <a:prstGeom prst="rect">
            <a:avLst/>
          </a:prstGeom>
          <a:noFill/>
        </p:spPr>
        <p:txBody>
          <a:bodyPr wrap="square" lIns="0" rIns="0" tIns="0" bIns="0" anchor="t">
            <a:noAutofit/>
          </a:bodyPr>
          <a:lstStyle/>
          <a:p>
            <a:pPr algn="l"/>
            <a:r>
              <a:rPr sz="1500" b="1">
                <a:solidFill>
                  <a:srgbClr val="F5EDF0"/>
                </a:solidFill>
                <a:latin typeface="Segoe UI"/>
              </a:rPr>
              <a:t>Feryel</a:t>
            </a:r>
          </a:p>
        </p:txBody>
      </p:sp>
      <p:sp>
        <p:nvSpPr>
          <p:cNvPr id="42" name="TextBox 41"/>
          <p:cNvSpPr txBox="1"/>
          <p:nvPr/>
        </p:nvSpPr>
        <p:spPr>
          <a:xfrm>
            <a:off x="6766559" y="5477256"/>
            <a:ext cx="4647895" cy="365760"/>
          </a:xfrm>
          <a:prstGeom prst="rect">
            <a:avLst/>
          </a:prstGeom>
          <a:noFill/>
        </p:spPr>
        <p:txBody>
          <a:bodyPr wrap="square" lIns="0" rIns="0" tIns="0" bIns="0" anchor="t">
            <a:noAutofit/>
          </a:bodyPr>
          <a:lstStyle/>
          <a:p>
            <a:pPr algn="l"/>
            <a:r>
              <a:rPr sz="1300" b="0">
                <a:solidFill>
                  <a:srgbClr val="A3959B"/>
                </a:solidFill>
                <a:latin typeface="Segoe UI"/>
              </a:rPr>
              <a:t>Hard level, graph algorithms and the sorting visualizer</a:t>
            </a:r>
          </a:p>
        </p:txBody>
      </p:sp>
      <p:sp>
        <p:nvSpPr>
          <p:cNvPr id="43" name="TextBox 42"/>
          <p:cNvSpPr txBox="1"/>
          <p:nvPr/>
        </p:nvSpPr>
        <p:spPr>
          <a:xfrm>
            <a:off x="548640" y="6382512"/>
            <a:ext cx="5486400" cy="274320"/>
          </a:xfrm>
          <a:prstGeom prst="rect">
            <a:avLst/>
          </a:prstGeom>
          <a:noFill/>
        </p:spPr>
        <p:txBody>
          <a:bodyPr wrap="square" lIns="0" rIns="0" tIns="0" bIns="0" anchor="t">
            <a:noAutofit/>
          </a:bodyPr>
          <a:lstStyle/>
          <a:p>
            <a:pPr algn="l"/>
            <a:r>
              <a:rPr sz="1000" b="0">
                <a:solidFill>
                  <a:srgbClr val="A3959B"/>
                </a:solidFill>
                <a:latin typeface="Segoe UI"/>
              </a:rPr>
              <a:t>AlgoLearn  ·  SD Squad</a:t>
            </a:r>
          </a:p>
        </p:txBody>
      </p:sp>
      <p:sp>
        <p:nvSpPr>
          <p:cNvPr id="44" name="TextBox 43"/>
          <p:cNvSpPr txBox="1"/>
          <p:nvPr/>
        </p:nvSpPr>
        <p:spPr>
          <a:xfrm>
            <a:off x="10728655" y="6382512"/>
            <a:ext cx="914400" cy="274320"/>
          </a:xfrm>
          <a:prstGeom prst="rect">
            <a:avLst/>
          </a:prstGeom>
          <a:noFill/>
        </p:spPr>
        <p:txBody>
          <a:bodyPr wrap="square" lIns="0" rIns="0" tIns="0" bIns="0" anchor="t">
            <a:noAutofit/>
          </a:bodyPr>
          <a:lstStyle/>
          <a:p>
            <a:pPr algn="r"/>
            <a:r>
              <a:rPr sz="1000" b="0">
                <a:solidFill>
                  <a:srgbClr val="A3959B"/>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0E10"/>
        </a:solidFill>
        <a:effectLst/>
      </p:bgPr>
    </p:bg>
    <p:spTree>
      <p:nvGrpSpPr>
        <p:cNvPr id="1" name=""/>
        <p:cNvGrpSpPr/>
        <p:nvPr/>
      </p:nvGrpSpPr>
      <p:grpSpPr/>
      <p:sp>
        <p:nvSpPr>
          <p:cNvPr id="2" name="Title 1"/>
          <p:cNvSpPr>
            <a:spLocks noGrp="1"/>
          </p:cNvSpPr>
          <p:nvPr>
            <p:ph type="title"/>
          </p:nvPr>
        </p:nvSpPr>
        <p:spPr>
          <a:xfrm>
            <a:off x="548640" y="2651760"/>
            <a:ext cx="7315200" cy="1097280"/>
          </a:xfrm>
        </p:spPr>
        <p:txBody>
          <a:bodyPr wrap="square" lIns="0" rIns="0" tIns="0" bIns="0" anchor="t">
            <a:noAutofit/>
          </a:bodyPr>
          <a:lstStyle/>
          <a:p>
            <a:pPr algn="l"/>
            <a:r>
              <a:rPr sz="5400" b="1">
                <a:solidFill>
                  <a:srgbClr val="F5EDF0"/>
                </a:solidFill>
                <a:latin typeface="Segoe UI"/>
              </a:rPr>
              <a:t>Thank you</a:t>
            </a:r>
          </a:p>
        </p:txBody>
      </p:sp>
      <p:sp>
        <p:nvSpPr>
          <p:cNvPr id="3" name="Rounded Rectangle 2"/>
          <p:cNvSpPr/>
          <p:nvPr/>
        </p:nvSpPr>
        <p:spPr>
          <a:xfrm>
            <a:off x="548640" y="1828800"/>
            <a:ext cx="566928" cy="566928"/>
          </a:xfrm>
          <a:prstGeom prst="roundRect">
            <a:avLst>
              <a:gd name="adj" fmla="val 25806"/>
            </a:avLst>
          </a:prstGeom>
          <a:solidFill>
            <a:srgbClr val="C2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828800"/>
            <a:ext cx="566928" cy="566928"/>
          </a:xfrm>
          <a:prstGeom prst="rect">
            <a:avLst/>
          </a:prstGeom>
          <a:noFill/>
        </p:spPr>
        <p:txBody>
          <a:bodyPr wrap="square" lIns="0" rIns="0" tIns="0" bIns="0" anchor="ctr">
            <a:noAutofit/>
          </a:bodyPr>
          <a:lstStyle/>
          <a:p>
            <a:pPr algn="ctr"/>
            <a:r>
              <a:rPr sz="2400" b="1">
                <a:solidFill>
                  <a:srgbClr val="FFFFFF"/>
                </a:solidFill>
                <a:latin typeface="Segoe UI"/>
              </a:rPr>
              <a:t>A</a:t>
            </a:r>
          </a:p>
        </p:txBody>
      </p:sp>
      <p:sp>
        <p:nvSpPr>
          <p:cNvPr id="5" name="TextBox 4"/>
          <p:cNvSpPr txBox="1"/>
          <p:nvPr/>
        </p:nvSpPr>
        <p:spPr>
          <a:xfrm>
            <a:off x="548640" y="3749039"/>
            <a:ext cx="7315200" cy="548640"/>
          </a:xfrm>
          <a:prstGeom prst="rect">
            <a:avLst/>
          </a:prstGeom>
          <a:noFill/>
        </p:spPr>
        <p:txBody>
          <a:bodyPr wrap="square" lIns="0" rIns="0" tIns="0" bIns="0" anchor="t">
            <a:noAutofit/>
          </a:bodyPr>
          <a:lstStyle/>
          <a:p>
            <a:pPr algn="l"/>
            <a:r>
              <a:rPr sz="2400" b="1">
                <a:solidFill>
                  <a:srgbClr val="F48AAA"/>
                </a:solidFill>
                <a:latin typeface="Segoe UI"/>
              </a:rPr>
              <a:t>Questions?</a:t>
            </a:r>
          </a:p>
        </p:txBody>
      </p:sp>
      <p:sp>
        <p:nvSpPr>
          <p:cNvPr id="6" name="TextBox 5"/>
          <p:cNvSpPr txBox="1"/>
          <p:nvPr/>
        </p:nvSpPr>
        <p:spPr>
          <a:xfrm>
            <a:off x="548640" y="4846320"/>
            <a:ext cx="5486400" cy="640080"/>
          </a:xfrm>
          <a:prstGeom prst="rect">
            <a:avLst/>
          </a:prstGeom>
          <a:noFill/>
        </p:spPr>
        <p:txBody>
          <a:bodyPr wrap="square" lIns="0" rIns="0" tIns="0" bIns="0" anchor="t">
            <a:noAutofit/>
          </a:bodyPr>
          <a:lstStyle/>
          <a:p>
            <a:pPr algn="l">
              <a:spcAft>
                <a:spcPts val="400"/>
              </a:spcAft>
            </a:pPr>
            <a:r>
              <a:rPr sz="1300" b="0">
                <a:solidFill>
                  <a:srgbClr val="A3959B"/>
                </a:solidFill>
                <a:latin typeface="Segoe UI"/>
              </a:rPr>
              <a:t>SD Squad</a:t>
            </a:r>
          </a:p>
          <a:p>
            <a:pPr algn="l"/>
            <a:r>
              <a:rPr sz="1300" b="0">
                <a:solidFill>
                  <a:srgbClr val="A3959B"/>
                </a:solidFill>
                <a:latin typeface="Segoe UI"/>
              </a:rPr>
              <a:t>Toumani Adib  ·  Alhamad Solaiman  ·  Youssef Jelassi  ·  Feryel</a:t>
            </a:r>
          </a:p>
        </p:txBody>
      </p:sp>
      <p:sp>
        <p:nvSpPr>
          <p:cNvPr id="7" name="Rounded Rectangle 6"/>
          <p:cNvSpPr/>
          <p:nvPr/>
        </p:nvSpPr>
        <p:spPr>
          <a:xfrm>
            <a:off x="6345936" y="1636776"/>
            <a:ext cx="5321808" cy="3367278"/>
          </a:xfrm>
          <a:prstGeom prst="roundRect">
            <a:avLst>
              <a:gd name="adj" fmla="val 3258"/>
            </a:avLst>
          </a:prstGeom>
          <a:solidFill>
            <a:srgbClr val="1D1719"/>
          </a:solidFill>
          <a:ln w="9525">
            <a:solidFill>
              <a:srgbClr val="322A2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09-visualizer.png"/>
          <p:cNvPicPr>
            <a:picLocks noChangeAspect="1"/>
          </p:cNvPicPr>
          <p:nvPr/>
        </p:nvPicPr>
        <p:blipFill>
          <a:blip r:embed="rId2"/>
          <a:srcRect/>
          <a:stretch>
            <a:fillRect/>
          </a:stretch>
        </p:blipFill>
        <p:spPr>
          <a:xfrm>
            <a:off x="6400800" y="1691640"/>
            <a:ext cx="5212080" cy="3257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FFFF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FFFF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